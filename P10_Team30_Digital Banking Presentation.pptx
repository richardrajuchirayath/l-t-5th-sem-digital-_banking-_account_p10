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2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10.png"/><Relationship Id="rId17" Type="http://schemas.openxmlformats.org/officeDocument/2006/relationships/image" Target="../media/image4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2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Relationship Id="rId16" Type="http://schemas.openxmlformats.org/officeDocument/2006/relationships/image" Target="../media/image49.png"/><Relationship Id="rId17" Type="http://schemas.openxmlformats.org/officeDocument/2006/relationships/image" Target="../media/image12.png"/><Relationship Id="rId18" Type="http://schemas.openxmlformats.org/officeDocument/2006/relationships/image" Target="../media/image50.png"/><Relationship Id="rId19" Type="http://schemas.openxmlformats.org/officeDocument/2006/relationships/image" Target="../media/image5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2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Relationship Id="rId4" Type="http://schemas.openxmlformats.org/officeDocument/2006/relationships/image" Target="../media/image2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2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2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10.png"/><Relationship Id="rId10" Type="http://schemas.openxmlformats.org/officeDocument/2006/relationships/image" Target="../media/image84.png"/><Relationship Id="rId11" Type="http://schemas.openxmlformats.org/officeDocument/2006/relationships/image" Target="../media/image46.png"/><Relationship Id="rId12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362700"/>
            <a:ext cx="112395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6467475"/>
            <a:ext cx="2771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System Architecture &amp; Engineering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600" y="6467475"/>
            <a:ext cx="438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Slide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337" y="2513855"/>
            <a:ext cx="10601325" cy="1258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956"/>
              </a:lnSpc>
            </a:pPr>
            <a:r>
              <a:rPr b="0" sz="4200" i="0" u="none">
                <a:solidFill>
                  <a:srgbClr val="0B1220"/>
                </a:solidFill>
                <a:latin typeface="EB Garamond SemiBold"/>
              </a:rPr>
              <a:t>Digital Banking Account &amp; Transaction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250" y="3982194"/>
            <a:ext cx="819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A5568"/>
                </a:solidFill>
                <a:latin typeface="DM Sans"/>
              </a:rPr>
              <a:t>Core Banking &amp; Transaction Management Engine · Advanced JavaScript Backend Frameworks (Node.js &amp; Express.js)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57662" y="2182862"/>
            <a:ext cx="714375" cy="14287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3487" y="2094755"/>
            <a:ext cx="21050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8C6319"/>
                </a:solidFill>
                <a:latin typeface="JetBrains Mono"/>
              </a:rPr>
              <a:t>PROBLEM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9962" y="2182862"/>
            <a:ext cx="714375" cy="14287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542829"/>
            <a:ext cx="11239500" cy="8036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067520"/>
            <a:ext cx="5524500" cy="10852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067520"/>
            <a:ext cx="5524500" cy="108525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305175"/>
            <a:ext cx="5524500" cy="108525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305175"/>
            <a:ext cx="5524500" cy="108525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362700"/>
            <a:ext cx="112395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6467475"/>
            <a:ext cx="2657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Architectural Problem &amp; Engineering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Slide 02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816078"/>
            <a:ext cx="1257300" cy="2571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38375" y="4723804"/>
            <a:ext cx="923925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E2E8F0"/>
                </a:solidFill>
                <a:latin typeface="DM Sans"/>
              </a:rPr>
              <a:t>A secure, double-entry style core banking backend engineered with atomic validation, strict account state machines, automated AML triggers, and multi-tier RBAC.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229445"/>
            <a:ext cx="50958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0B1220"/>
                </a:solidFill>
                <a:latin typeface="DM Sans SemiBold"/>
              </a:rPr>
              <a:t>Concurrency &amp; Race Conditions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CHALLENGE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2562820"/>
            <a:ext cx="5095875" cy="428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b="0" sz="1162" i="0" u="none">
                <a:solidFill>
                  <a:srgbClr val="475569"/>
                </a:solidFill>
                <a:latin typeface="DM Sans"/>
              </a:rPr>
              <a:t>Inter-account fund transfers risk double-spending or dirty reads if dual-account mutations are not handled atomically.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2229445"/>
            <a:ext cx="50958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0B1220"/>
                </a:solidFill>
                <a:latin typeface="DM Sans SemiBold"/>
              </a:rPr>
              <a:t>Absence of Point-in-Time Auditability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CHALLENGE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2562820"/>
            <a:ext cx="5095875" cy="428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b="0" sz="1162" i="0" u="none">
                <a:solidFill>
                  <a:srgbClr val="475569"/>
                </a:solidFill>
                <a:latin typeface="DM Sans"/>
              </a:rPr>
              <a:t>Typical systems overwrite balance columns without preserving an immutable ledger with running historical balances.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3467100"/>
            <a:ext cx="50958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0B1220"/>
                </a:solidFill>
                <a:latin typeface="DM Sans SemiBold"/>
              </a:rPr>
              <a:t>Weak Governance &amp; Role Segregation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CHALLENGE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3800475"/>
            <a:ext cx="5095875" cy="428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b="0" sz="1162" i="0" u="none">
                <a:solidFill>
                  <a:srgbClr val="475569"/>
                </a:solidFill>
                <a:latin typeface="DM Sans"/>
              </a:rPr>
              <a:t>Mixing retail customer actions with compliance enforcement leads to security oversights and unauthorized status changes.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3467100"/>
            <a:ext cx="50958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0B1220"/>
                </a:solidFill>
                <a:latin typeface="DM Sans SemiBold"/>
              </a:rPr>
              <a:t>Unchecked Large Capital Outflows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CHALLENGE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800475"/>
            <a:ext cx="5095875" cy="428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b="0" sz="1162" i="0" u="none">
                <a:solidFill>
                  <a:srgbClr val="475569"/>
                </a:solidFill>
                <a:latin typeface="DM Sans"/>
              </a:rPr>
              <a:t>Lack of automated AML (Anti-Money Laundering) detection fails to flag rapid, high-value transfers for staff intervention.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285750"/>
            <a:ext cx="112395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01 — PROBLEM STATEMENT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TEAM 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504825"/>
            <a:ext cx="11715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0" sz="2700" i="0" u="none">
                <a:solidFill>
                  <a:srgbClr val="0B1220"/>
                </a:solidFill>
                <a:latin typeface="EB Garamond SemiBold"/>
              </a:rPr>
              <a:t>Problem Statement &amp; Challenges in Core Banking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82080"/>
            <a:ext cx="3619500" cy="17487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1882080"/>
            <a:ext cx="3619500" cy="17487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882080"/>
            <a:ext cx="3619500" cy="17487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783210"/>
            <a:ext cx="3619500" cy="174873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3783210"/>
            <a:ext cx="3619500" cy="174873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3783210"/>
            <a:ext cx="3619500" cy="174873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362700"/>
            <a:ext cx="112395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467475"/>
            <a:ext cx="1790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System Functional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Slide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2082105"/>
            <a:ext cx="321945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OBJECTIVE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301180"/>
            <a:ext cx="3380422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0" sz="1725" i="0" u="none">
                <a:solidFill>
                  <a:srgbClr val="0B1220"/>
                </a:solidFill>
                <a:latin typeface="EB Garamond SemiBold"/>
              </a:rPr>
              <a:t>Atomic Fund Transfer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2621160"/>
            <a:ext cx="32194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DM Sans"/>
              </a:rPr>
              <a:t>Eliminate double-spending through rigorous balance and daily limit checks prior to dual balance mutation.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275" y="2082105"/>
            <a:ext cx="321945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OBJECTIVE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275" y="2301180"/>
            <a:ext cx="3380422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0" sz="1725" i="0" u="none">
                <a:solidFill>
                  <a:srgbClr val="0B1220"/>
                </a:solidFill>
                <a:latin typeface="EB Garamond SemiBold"/>
              </a:rPr>
              <a:t>Double-Entry Ledger Accounting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275" y="2621160"/>
            <a:ext cx="32194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DM Sans"/>
              </a:rPr>
              <a:t>Maintain append-only transaction records storing running on every debit and credit.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275" y="2082105"/>
            <a:ext cx="321945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OBJECTIVE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6275" y="2301180"/>
            <a:ext cx="3380422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0" sz="1725" i="0" u="none">
                <a:solidFill>
                  <a:srgbClr val="0B1220"/>
                </a:solidFill>
                <a:latin typeface="EB Garamond SemiBold"/>
              </a:rPr>
              <a:t>Granular 3-Tier RBAC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5" y="2621160"/>
            <a:ext cx="32194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DM Sans"/>
              </a:rPr>
              <a:t>Implement JWT bearer token authorization enforcing distinct boundaries for , , and 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" y="3983235"/>
            <a:ext cx="321945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OBJECTIVE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" y="4202310"/>
            <a:ext cx="3380422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0" sz="1725" i="0" u="none">
                <a:solidFill>
                  <a:srgbClr val="0B1220"/>
                </a:solidFill>
                <a:latin typeface="EB Garamond SemiBold"/>
              </a:rPr>
              <a:t>Automated AML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" y="4522291"/>
            <a:ext cx="32194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DM Sans"/>
              </a:rPr>
              <a:t>Automatically intercept and flag transactions ≥ ₹50,000 for compliance review and audit escalation.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6275" y="3983235"/>
            <a:ext cx="321945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OBJECTIVE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6275" y="4202310"/>
            <a:ext cx="3380422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0" sz="1725" i="0" u="none">
                <a:solidFill>
                  <a:srgbClr val="0B1220"/>
                </a:solidFill>
                <a:latin typeface="EB Garamond SemiBold"/>
              </a:rPr>
              <a:t>Operational Workflow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6275" y="4522291"/>
            <a:ext cx="32194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DM Sans"/>
              </a:rPr>
              <a:t>Provide bank staff with real-time approval queues, account freeze/unfreeze mechanisms, and audit logs.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6275" y="3983235"/>
            <a:ext cx="321945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OBJECTIVE 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6275" y="4202310"/>
            <a:ext cx="3380422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0" sz="1725" i="0" u="none">
                <a:solidFill>
                  <a:srgbClr val="0B1220"/>
                </a:solidFill>
                <a:latin typeface="EB Garamond SemiBold"/>
              </a:rPr>
              <a:t>Interactive Executive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6275" y="4522291"/>
            <a:ext cx="32194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DM Sans"/>
              </a:rPr>
              <a:t>Provide a responsive web portal styled in a bespoke Cream &amp; Champagne Gold aesthetic with classic EB Garamond typography for viva evaluations.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3325" y="2086867"/>
            <a:ext cx="15240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2375" y="2086867"/>
            <a:ext cx="13335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3075" y="2809279"/>
            <a:ext cx="1066800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25225" y="2086867"/>
            <a:ext cx="1905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2809279"/>
            <a:ext cx="76200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6275" y="3016448"/>
            <a:ext cx="53340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2100" y="3016448"/>
            <a:ext cx="533400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43325" y="3987998"/>
            <a:ext cx="152400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91425" y="3987998"/>
            <a:ext cx="114300" cy="1524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63325" y="3987998"/>
            <a:ext cx="152400" cy="152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76250" y="285750"/>
            <a:ext cx="112395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02 — OBJECTIVES &amp; SCOPE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TEAM 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250" y="504825"/>
            <a:ext cx="11715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0" sz="2700" i="0" u="none">
                <a:solidFill>
                  <a:srgbClr val="0B1220"/>
                </a:solidFill>
                <a:latin typeface="EB Garamond SemiBold"/>
              </a:rPr>
              <a:t>Objectives &amp; System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421010"/>
            <a:ext cx="48459776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6526" y="1421010"/>
            <a:ext cx="1314450" cy="353570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26526" y="5109120"/>
            <a:ext cx="1314450" cy="319236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362700"/>
            <a:ext cx="112395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6467475"/>
            <a:ext cx="18669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Layered Boundary Enforcement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Slide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1621035"/>
            <a:ext cx="11477625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E0BE75"/>
                </a:solidFill>
                <a:latin typeface="DM Sans"/>
              </a:rPr>
              <a:t>PIPELINE SEQUENCE (MVC + LAYERED GUARDS)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94A3B8"/>
                </a:solidFill>
                <a:latin typeface="DM Sans"/>
              </a:rPr>
              <a:t>NODE.JS &amp; EXPRESS.JS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4375" y="1878210"/>
            <a:ext cx="47983526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" y="2002035"/>
            <a:ext cx="11477625" cy="578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D1DBE6"/>
                </a:solidFill>
                <a:latin typeface="JetBrains Mono"/>
              </a:rPr>
              <a:t>HTTP Request (Client Portal / Hoppscotch / Postman) │ ├──► CORS &amp; express.json() Body Parsing ├──► Morgan HTTP Request Logger ├──► JWT Authentication Guard (`middleware/auth.js` -&gt; attaches req.user) ├──► RBAC Guard (`authorize('STAFF', 'ADMIN')` -&gt; role verification) ├──► Input Sanitizer &amp; Validator (`middleware/validate.js` -&gt; 400 error boundary) ├──► Domain Controller (`controllers/*.js` -&gt; business logic &amp; state guards) ├──► Mongoose ODM Models (`models/*.js` -&gt; schema validation &amp; indexing) │ └──► MongoDB Atlas Database (Cloud replica set) └──► Uniform Response Envelope (`sendSuccess` / `sendError`)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55126" y="1601985"/>
            <a:ext cx="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B1220"/>
                </a:solidFill>
                <a:latin typeface="EB Garamond"/>
              </a:rPr>
              <a:t>Pattern Rationale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55126" y="2173485"/>
            <a:ext cx="0" cy="26022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Model-View-Controller (MVC) with modular layered middleware keeps HTTP concerns isolated from banking transaction business rules.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55126" y="5290095"/>
            <a:ext cx="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B1220"/>
                </a:solidFill>
                <a:latin typeface="EB Garamond"/>
              </a:rPr>
              <a:t>Uniform Response Envelope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55126" y="6118770"/>
            <a:ext cx="0" cy="7392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Standardizes all API output (, , / ) ensuring deterministic client contracts.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02751" y="6500068"/>
            <a:ext cx="6858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55126" y="6700242"/>
            <a:ext cx="6858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55126" y="6900416"/>
            <a:ext cx="45720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55126" y="7100589"/>
            <a:ext cx="8382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6250" y="285750"/>
            <a:ext cx="112395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03 — ARCHITECTURAL DESIGN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TEAM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504825"/>
            <a:ext cx="11715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0" sz="2700" i="0" u="none">
                <a:solidFill>
                  <a:srgbClr val="0B1220"/>
                </a:solidFill>
                <a:latin typeface="EB Garamond SemiBold"/>
              </a:rPr>
              <a:t>Architectural Design &amp; Request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397198"/>
            <a:ext cx="57376218" cy="4619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2968" y="1397198"/>
            <a:ext cx="1428750" cy="301123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42968" y="4560837"/>
            <a:ext cx="1428750" cy="301123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362700"/>
            <a:ext cx="112395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6467475"/>
            <a:ext cx="2552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Document Architecture &amp; Scale Trade-offs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Slide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" y="1540073"/>
            <a:ext cx="11534775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E0BE75"/>
                </a:solidFill>
                <a:latin typeface="DM Sans"/>
              </a:rPr>
              <a:t>MONGODB RELATIONAL ENTITY MODEL (ER)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94A3B8"/>
                </a:solidFill>
                <a:latin typeface="DM Sans"/>
              </a:rPr>
              <a:t>COLLECTIONS &amp; REFS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7225" y="1797248"/>
            <a:ext cx="57014268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225" y="1921073"/>
            <a:ext cx="11534775" cy="410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8"/>
              </a:lnSpc>
            </a:pPr>
            <a:r>
              <a:rPr b="0" sz="862" i="0" u="none">
                <a:solidFill>
                  <a:srgbClr val="E0BE75"/>
                </a:solidFill>
                <a:latin typeface="JetBrains Mono"/>
              </a:rPr>
              <a:t>┌─────────────────┐ │ users │ ├─────────────────┤ │ _id │ │ email (unique) │ │ role │ │ kycDetails │◄── Embedded (1:1 with user identity) └────────┬────────┘ │ 1:N (userId ref) ▼ ┌─────────────────┐ 1:N (userId ref) ┌──────────────────┐ │ accounts │─────────────────────────────►│ beneficiaries │ ├─────────────────┤ ├──────────────────┤ │ _id │ │ _id │ │ accountNumber(u)│ │ beneficiaryAccNo │ │ balance, status │ └──────────────────┘ └────────┬────────┘ │ 1:N ┌──┴──┐ 1:N ▼ ▼ ┌───────────────────┐ ┌──────────────────┐ │ transactions │ │ approvals │ ├───────────────────┤ ├──────────────────┤ │ _id (immutable) │ │ _id, accountId │ │ type (DEBIT/CREDIT│ │ staffId, action │ │ amount,balanceAfter │ remarks, created │ │ flagged (AML flag)│ └──────────────────┘ └───────────────────┘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42993" y="1597223"/>
            <a:ext cx="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B1220"/>
                </a:solidFill>
                <a:latin typeface="EB Garamond"/>
              </a:rPr>
              <a:t>Embedded KYC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2993" y="2425898"/>
            <a:ext cx="0" cy="180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Tightly coupled to the user; avoids expensive multi-collection joins during everyday session authentication.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2993" y="4760862"/>
            <a:ext cx="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B1220"/>
                </a:solidFill>
                <a:latin typeface="EB Garamond"/>
              </a:rPr>
              <a:t>Referenced Accounts &amp; Ledgers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2993" y="5589537"/>
            <a:ext cx="0" cy="1268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Accommodates unbounded one-to-many scaling and circumvents MongoDB's strict 16MB single-document limit.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" y="285750"/>
            <a:ext cx="112395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04 — DATABASE DESIGN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TEAM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" y="504825"/>
            <a:ext cx="11715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0" sz="2700" i="0" u="none">
                <a:solidFill>
                  <a:srgbClr val="0B1220"/>
                </a:solidFill>
                <a:latin typeface="EB Garamond SemiBold"/>
              </a:rPr>
              <a:t>Database Design &amp; Data Modeling Rationale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950094"/>
            <a:ext cx="3619500" cy="16807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950094"/>
            <a:ext cx="3619500" cy="16807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950094"/>
            <a:ext cx="3619500" cy="16807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783210"/>
            <a:ext cx="3619500" cy="168071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3783210"/>
            <a:ext cx="3619500" cy="168071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3783210"/>
            <a:ext cx="3619500" cy="168071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362700"/>
            <a:ext cx="112395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467475"/>
            <a:ext cx="1514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Retail Banking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Slide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231082"/>
            <a:ext cx="3190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MODULE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440632"/>
            <a:ext cx="3350418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0B1220"/>
                </a:solidFill>
                <a:latin typeface="EB Garamond SemiBold"/>
              </a:rPr>
              <a:t>Customer Onboarding &amp; KYC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2749153"/>
            <a:ext cx="3190875" cy="600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Registration with bcrypt-hashed passwords and structured KYC capture (, , address, income).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4850" y="2231082"/>
            <a:ext cx="3190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MODULE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4850" y="2440632"/>
            <a:ext cx="3350418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0B1220"/>
                </a:solidFill>
                <a:latin typeface="EB Garamond SemiBold"/>
              </a:rPr>
              <a:t>Account Lifecycle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850" y="2749153"/>
            <a:ext cx="3190875" cy="600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Customers apply for Savings or Current accounts; system generates and assigns unique 10-digit account numbers.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4850" y="2131069"/>
            <a:ext cx="3190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MODULE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850" y="2340619"/>
            <a:ext cx="3350418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0B1220"/>
                </a:solidFill>
                <a:latin typeface="EB Garamond SemiBold"/>
              </a:rPr>
              <a:t>Beneficiary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4850" y="2649140"/>
            <a:ext cx="3190875" cy="800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Whitelist trusted recipients; compound unique index prevents duplicates.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4064198"/>
            <a:ext cx="3190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MODULE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4273748"/>
            <a:ext cx="3350418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0B1220"/>
                </a:solidFill>
                <a:latin typeface="EB Garamond SemiBold"/>
              </a:rPr>
              <a:t>Fund Transfer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4582269"/>
            <a:ext cx="3190875" cy="600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Atomic transfers between accounts with simultaneous source debit and destination credit ledger mutations.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4850" y="4164359"/>
            <a:ext cx="3190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MODULE 6 &amp;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4850" y="4373909"/>
            <a:ext cx="3350418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0B1220"/>
                </a:solidFill>
                <a:latin typeface="EB Garamond SemiBold"/>
              </a:rPr>
              <a:t>Immutable Ledger &amp; Statements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4850" y="4682430"/>
            <a:ext cx="3190875" cy="400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Running ledger and date-filtered statement exports with net turnover statistics.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4850" y="4064198"/>
            <a:ext cx="3190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MODULE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4850" y="4273748"/>
            <a:ext cx="3350418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0B1220"/>
                </a:solidFill>
                <a:latin typeface="EB Garamond SemiBold"/>
              </a:rPr>
              <a:t>Balance &amp; Limits Enforcement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4850" y="4582269"/>
            <a:ext cx="3190875" cy="600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Enforces minimum balance (Savings: ₹1,000 | Current: ₹5,000) and cumulative daily transfer limit (₹1,00,000).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4275" y="2231082"/>
            <a:ext cx="1714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6950" y="2930276"/>
            <a:ext cx="838200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3130450"/>
            <a:ext cx="1143000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3325" y="2231082"/>
            <a:ext cx="1524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63325" y="2131069"/>
            <a:ext cx="15240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4850" y="2830264"/>
            <a:ext cx="2286000" cy="428773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5225" y="4064198"/>
            <a:ext cx="19050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91425" y="4164359"/>
            <a:ext cx="114300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48250" y="4663380"/>
            <a:ext cx="1066800" cy="2286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25225" y="4064198"/>
            <a:ext cx="190500" cy="152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76250" y="285750"/>
            <a:ext cx="112395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05 — CUSTOMER WORKFLOWS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TEAM 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250" y="504825"/>
            <a:ext cx="11715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0" sz="2700" i="0" u="none">
                <a:solidFill>
                  <a:srgbClr val="0B1220"/>
                </a:solidFill>
                <a:latin typeface="EB Garamond SemiBold"/>
              </a:rPr>
              <a:t>Core Modules — Customer Banking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950094"/>
            <a:ext cx="3619500" cy="16807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950094"/>
            <a:ext cx="3619500" cy="16807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950094"/>
            <a:ext cx="3619500" cy="16807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783210"/>
            <a:ext cx="3619500" cy="168071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3783210"/>
            <a:ext cx="3619500" cy="168071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3783210"/>
            <a:ext cx="3619500" cy="168071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362700"/>
            <a:ext cx="112395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467475"/>
            <a:ext cx="22955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Administrative &amp; Compliance 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9025" y="6467475"/>
            <a:ext cx="4667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Slide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131069"/>
            <a:ext cx="3190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MODULE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340619"/>
            <a:ext cx="3350418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0B1220"/>
                </a:solidFill>
                <a:latin typeface="EB Garamond SemiBold"/>
              </a:rPr>
              <a:t>Account Approval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2649140"/>
            <a:ext cx="3190875" cy="800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Staff reviews pending queue (), inspects KYC, and approves with initial deposit activation or rejects with mandatory remarks.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4850" y="2231082"/>
            <a:ext cx="3190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MODULE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4850" y="2440632"/>
            <a:ext cx="3350418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0B1220"/>
                </a:solidFill>
                <a:latin typeface="EB Garamond SemiBold"/>
              </a:rPr>
              <a:t>AML &amp; Suspicious Flagging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850" y="2749153"/>
            <a:ext cx="3190875" cy="600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Automated threshold trigger on any transaction ≥ ₹50,000; flags transaction for compliance review and staff sign-off.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4850" y="2231082"/>
            <a:ext cx="3190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MODULE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850" y="2440632"/>
            <a:ext cx="3350418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0B1220"/>
                </a:solidFill>
                <a:latin typeface="EB Garamond SemiBold"/>
              </a:rPr>
              <a:t>Account Freeze / Unfreeze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4850" y="2749153"/>
            <a:ext cx="3190875" cy="600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Security control transitioning accounts from to ; strictly blocks outgoing debits while preserving audit trails.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4064198"/>
            <a:ext cx="3190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MODULE 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4273748"/>
            <a:ext cx="3350418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0B1220"/>
                </a:solidFill>
                <a:latin typeface="EB Garamond SemiBold"/>
              </a:rPr>
              <a:t>Periodic Interest Accrual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4582269"/>
            <a:ext cx="3190875" cy="600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Batch job calculating daily simple interest on active Savings accounts (4.0% per annum) with automated ledger accrual.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4850" y="4064198"/>
            <a:ext cx="3190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MODULE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4850" y="4273748"/>
            <a:ext cx="3350418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0B1220"/>
                </a:solidFill>
                <a:latin typeface="EB Garamond SemiBold"/>
              </a:rPr>
              <a:t>Staff Monitoring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4850" y="4582269"/>
            <a:ext cx="3190875" cy="600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Bank-wide aggregated metrics: total deposits, pending queues, frozen accounts, and flagged counts across all branches.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4850" y="4164359"/>
            <a:ext cx="3190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MODULE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4850" y="4373909"/>
            <a:ext cx="3350418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0" sz="1650" i="0" u="none">
                <a:solidFill>
                  <a:srgbClr val="0B1220"/>
                </a:solidFill>
                <a:latin typeface="EB Garamond SemiBold"/>
              </a:rPr>
              <a:t>Role-Based Access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4850" y="4682430"/>
            <a:ext cx="3190875" cy="400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JWT middleware enforcing strict access policies across , , and roles.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2375" y="2131069"/>
            <a:ext cx="1333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2830264"/>
            <a:ext cx="1371600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3325" y="2231082"/>
            <a:ext cx="15240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82375" y="2231082"/>
            <a:ext cx="13335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4850" y="2930276"/>
            <a:ext cx="60960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53525" y="2930276"/>
            <a:ext cx="60960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1900" y="4064198"/>
            <a:ext cx="123825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3325" y="4064198"/>
            <a:ext cx="152400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82375" y="4164359"/>
            <a:ext cx="133350" cy="1524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82050" y="4863554"/>
            <a:ext cx="762000" cy="2286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10725" y="4863554"/>
            <a:ext cx="533400" cy="2286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87025" y="4863554"/>
            <a:ext cx="533400" cy="2286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76250" y="285750"/>
            <a:ext cx="112395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06 — STAFF GOVERNANCE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TEAM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250" y="504825"/>
            <a:ext cx="11715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0" sz="2700" i="0" u="none">
                <a:solidFill>
                  <a:srgbClr val="0B1220"/>
                </a:solidFill>
                <a:latin typeface="EB Garamond SemiBold"/>
              </a:rPr>
              <a:t>Core Modules — Staff Operations &amp;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47801"/>
            <a:ext cx="11239500" cy="103465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834854"/>
            <a:ext cx="2156370" cy="9313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6920" y="3834854"/>
            <a:ext cx="2156519" cy="9313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740" y="3834854"/>
            <a:ext cx="2156370" cy="93136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8410" y="3834854"/>
            <a:ext cx="2156519" cy="93136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9230" y="3834854"/>
            <a:ext cx="2156370" cy="93136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362700"/>
            <a:ext cx="112395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467475"/>
            <a:ext cx="3143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Deterministic Finite State Machine &amp; Guard Hierarchy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Slide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2809726"/>
            <a:ext cx="10801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0BE75"/>
                </a:solidFill>
                <a:latin typeface="JetBrains Mono"/>
              </a:rPr>
              <a:t>FINITE STATE MACHINE (ACCOUNT LIFECYCLE)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3038326"/>
            <a:ext cx="10801350" cy="4822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0" sz="937" i="0" u="none">
                <a:solidFill>
                  <a:srgbClr val="E2E8F0"/>
                </a:solidFill>
                <a:latin typeface="JetBrains Mono"/>
              </a:rPr>
              <a:t>[Customer Applies] ──► PENDING_APPROVAL ──(Staff Rejects)──► REJECTED (Terminated) │ (Staff Approves) ▼ ACTIVE ◄──────────────┐ │ │ (Staff Freezes) (Staff Unfreezes) ▼ │ FROZEN ───────────────┘ (Debits strictly blocked)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3996779"/>
            <a:ext cx="187062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0B1220"/>
                </a:solidFill>
                <a:latin typeface="EB Garamond SemiBold"/>
              </a:rPr>
              <a:t>1. Source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4244429"/>
            <a:ext cx="1870620" cy="378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75569"/>
                </a:solidFill>
                <a:latin typeface="DM Sans"/>
              </a:rPr>
              <a:t>Must be (reject if or 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795" y="3996779"/>
            <a:ext cx="187076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0B1220"/>
                </a:solidFill>
                <a:latin typeface="EB Garamond SemiBold"/>
              </a:rPr>
              <a:t>2. Self-Transfer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795" y="4244429"/>
            <a:ext cx="1870769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75569"/>
                </a:solidFill>
                <a:latin typeface="DM Sans"/>
              </a:rPr>
              <a:t>Destination cannot equal source account.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0615" y="3996779"/>
            <a:ext cx="187062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0B1220"/>
                </a:solidFill>
                <a:latin typeface="EB Garamond SemiBold"/>
              </a:rPr>
              <a:t>3. Daily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0615" y="4244429"/>
            <a:ext cx="1870620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75569"/>
                </a:solidFill>
                <a:latin typeface="DM Sans"/>
              </a:rPr>
              <a:t>Cumulative transfers cannot exceed ₹1,00,000.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1285" y="3996779"/>
            <a:ext cx="187076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0B1220"/>
                </a:solidFill>
                <a:latin typeface="EB Garamond SemiBold"/>
              </a:rPr>
              <a:t>4. Min 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1285" y="4244429"/>
            <a:ext cx="1870769" cy="369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75569"/>
                </a:solidFill>
                <a:latin typeface="DM Sans"/>
              </a:rPr>
              <a:t>≥ Minimum Balance threshold.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2105" y="3996779"/>
            <a:ext cx="187062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0B1220"/>
                </a:solidFill>
                <a:latin typeface="EB Garamond SemiBold"/>
              </a:rPr>
              <a:t>5. AML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2105" y="4244429"/>
            <a:ext cx="1870620" cy="378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75569"/>
                </a:solidFill>
                <a:latin typeface="DM Sans"/>
              </a:rPr>
              <a:t>If , set 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4215854"/>
            <a:ext cx="60960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4405312"/>
            <a:ext cx="609600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8750" y="4405312"/>
            <a:ext cx="685800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1285" y="4215854"/>
            <a:ext cx="1524000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6405" y="4215854"/>
            <a:ext cx="1296441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02105" y="4405312"/>
            <a:ext cx="1219200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6250" y="285750"/>
            <a:ext cx="112395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07 — STATE MACHINES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TEAM 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250" y="504825"/>
            <a:ext cx="11715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0" sz="2700" i="0" u="none">
                <a:solidFill>
                  <a:srgbClr val="0B1220"/>
                </a:solidFill>
                <a:latin typeface="EB Garamond SemiBold"/>
              </a:rPr>
              <a:t>State Transition Models &amp; Validation 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16298"/>
            <a:ext cx="11239500" cy="3781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362700"/>
            <a:ext cx="112395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6467475"/>
            <a:ext cx="2190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Endpoint Testing &amp; Verification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Slide 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5775" y="1825823"/>
          <a:ext cx="11220448" cy="3762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92896"/>
                <a:gridCol w="1346448"/>
                <a:gridCol w="3141612"/>
                <a:gridCol w="4039492"/>
              </a:tblGrid>
              <a:tr h="62706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CF9F2"/>
                          </a:solidFill>
                          <a:latin typeface="DM Sans"/>
                        </a:rPr>
                        <a:t>DEMONSTRATED WORKFLOW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CF9F2"/>
                          </a:solidFill>
                          <a:latin typeface="DM Sans"/>
                        </a:rPr>
                        <a:t>HTTP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CF9F2"/>
                          </a:solidFill>
                          <a:latin typeface="DM Sans"/>
                        </a:rPr>
                        <a:t>RESPONSE / RESULT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CF9F2"/>
                          </a:solidFill>
                          <a:latin typeface="DM Sans"/>
                        </a:rPr>
                        <a:t>CONTROL DEMONSTRATED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220"/>
                    </a:solidFill>
                  </a:tcPr>
                </a:tc>
              </a:tr>
              <a:tr h="627062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Happy Path Transfer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200 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Dual ledger records + updated balanceAfter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POST /api/transactions/transfer</a:t>
                      </a:r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 with two account numbers and ₹2,500.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7062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Minimum Balance Violation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400 Bad Req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MINIMUM_BALANCE_VIOLATION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Transfer violating ₹1,00,0 threshold returns maximum transferable amount.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</a:tr>
              <a:tr h="627062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Frozen Account Transfer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403 Forbidden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ACCOUNT_FROZEN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Outgoing debit blocked on non-active account.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7062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RBAC Role Violation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403 Forbidden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FORBIDDEN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Customer token rejected when accessing </a:t>
                      </a:r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/api/staff/dashboard</a:t>
                      </a:r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</a:tr>
              <a:tr h="627065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Missing Fields Validation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400 Bad Req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Custom validator response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334155"/>
                          </a:solidFill>
                          <a:latin typeface="DM Sans"/>
                        </a:rPr>
                        <a:t>Malformed payload caught cleanly by custom validator without server crash.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85775" y="2244923"/>
            <a:ext cx="2692896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78671" y="2244923"/>
            <a:ext cx="1346448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5119" y="2244923"/>
            <a:ext cx="3141612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66732" y="2244923"/>
            <a:ext cx="4039492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5775" y="2878335"/>
            <a:ext cx="2692896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8671" y="2878335"/>
            <a:ext cx="1346448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5119" y="2878335"/>
            <a:ext cx="3141612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66732" y="2878335"/>
            <a:ext cx="4039492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5775" y="3554610"/>
            <a:ext cx="2692896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78671" y="3554610"/>
            <a:ext cx="1346448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5119" y="3554610"/>
            <a:ext cx="3141612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66732" y="3554610"/>
            <a:ext cx="4039492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5775" y="4230885"/>
            <a:ext cx="2692896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78671" y="4230885"/>
            <a:ext cx="1346448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5119" y="4230885"/>
            <a:ext cx="3141612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66732" y="4230885"/>
            <a:ext cx="4039492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5775" y="4907160"/>
            <a:ext cx="2692896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78671" y="4907160"/>
            <a:ext cx="1346448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5119" y="4907160"/>
            <a:ext cx="3141612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66732" y="4907160"/>
            <a:ext cx="4039492" cy="9525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9171" y="2459235"/>
            <a:ext cx="647700" cy="2381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7232" y="2378273"/>
            <a:ext cx="2514600" cy="228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9171" y="3025973"/>
            <a:ext cx="965448" cy="4000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5619" y="3111698"/>
            <a:ext cx="2057400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9171" y="3702248"/>
            <a:ext cx="965448" cy="4000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5619" y="3787973"/>
            <a:ext cx="1219200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9171" y="4378523"/>
            <a:ext cx="965448" cy="4000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5619" y="4464248"/>
            <a:ext cx="83820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7232" y="4549973"/>
            <a:ext cx="1676400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69171" y="5054798"/>
            <a:ext cx="965448" cy="4000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6250" y="285750"/>
            <a:ext cx="112395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08 — API VERIFICATION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TEAM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250" y="504825"/>
            <a:ext cx="11715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0" sz="2700" i="0" u="none">
                <a:solidFill>
                  <a:srgbClr val="0B1220"/>
                </a:solidFill>
                <a:latin typeface="EB Garamond SemiBold"/>
              </a:rPr>
              <a:t>API Demonstration &amp; Negative Edge Case Assertions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736157"/>
            <a:ext cx="1123950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115889"/>
            <a:ext cx="3619500" cy="246786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2115889"/>
            <a:ext cx="3619500" cy="246786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115889"/>
            <a:ext cx="3619500" cy="246786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362700"/>
            <a:ext cx="112395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467475"/>
            <a:ext cx="20859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Full-Stack Presentation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600" y="6467475"/>
            <a:ext cx="438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Slide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4898082"/>
            <a:ext cx="59626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1F5F9"/>
                </a:solidFill>
                <a:latin typeface="EB Garamond Medium"/>
              </a:rPr>
              <a:t>The interface is not decoration; it is the operational surface for the rules underneath.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4940944"/>
            <a:ext cx="4695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0BE75"/>
                </a:solidFill>
                <a:latin typeface="JetBrains Mono"/>
              </a:rPr>
              <a:t>CREAM &amp; CHAMPAGNE GOLD · EB GARAMOND · GENEROUS WHITESPACE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2344489"/>
            <a:ext cx="3181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8C6319"/>
                </a:solidFill>
                <a:latin typeface="JetBrains Mono"/>
              </a:rPr>
              <a:t>SURFACE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2554039"/>
            <a:ext cx="334041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B1220"/>
                </a:solidFill>
                <a:latin typeface="EB Garamond SemiBold"/>
              </a:rPr>
              <a:t>Landing &amp; Auth Portal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5325" y="2906464"/>
            <a:ext cx="31813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5325" y="2344489"/>
            <a:ext cx="3181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8C6319"/>
                </a:solidFill>
                <a:latin typeface="JetBrains Mono"/>
              </a:rPr>
              <a:t>SURFACE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325" y="2554039"/>
            <a:ext cx="334041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B1220"/>
                </a:solidFill>
                <a:latin typeface="EB Garamond SemiBold"/>
              </a:rPr>
              <a:t>Customer Banking Console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5325" y="2906464"/>
            <a:ext cx="31813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5325" y="2344489"/>
            <a:ext cx="3181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8C6319"/>
                </a:solidFill>
                <a:latin typeface="JetBrains Mono"/>
              </a:rPr>
              <a:t>SURFACE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2554039"/>
            <a:ext cx="334041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B1220"/>
                </a:solidFill>
                <a:latin typeface="EB Garamond SemiBold"/>
              </a:rPr>
              <a:t>Staff Operations Console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5325" y="2906464"/>
            <a:ext cx="31813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675" y="3011239"/>
            <a:ext cx="3048000" cy="400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Live role switchers (, , 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3468737"/>
            <a:ext cx="3048000" cy="400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Dynamic JWT issue modals for live demo testing.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3926234"/>
            <a:ext cx="3048000" cy="400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Encrypted session token storage with auto-refresh.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8675" y="3011239"/>
            <a:ext cx="3048000" cy="400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Live account summary cards with real-time balances.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8675" y="3468737"/>
            <a:ext cx="3048000" cy="400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Quick-transfer modal with beneficiary dropdown list.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8675" y="3926234"/>
            <a:ext cx="3048000" cy="200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Real-time immutable transaction ledger table.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8675" y="3011239"/>
            <a:ext cx="3048000" cy="400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Pending KYC applications queue with single-click actions.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8675" y="3468737"/>
            <a:ext cx="3048000" cy="400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Suspicious AML transaction queue with dismiss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8675" y="3926234"/>
            <a:ext cx="3048000" cy="400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Administrative security freeze and unfreeze controls.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325" y="3011239"/>
            <a:ext cx="38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C5A059"/>
                </a:solidFill>
                <a:latin typeface="DM Sans"/>
              </a:rPr>
              <a:t>▪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975" y="2992189"/>
            <a:ext cx="762000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4650" y="2992189"/>
            <a:ext cx="533400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3192363"/>
            <a:ext cx="533400" cy="228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5325" y="3468737"/>
            <a:ext cx="38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C5A059"/>
                </a:solidFill>
                <a:latin typeface="DM Sans"/>
              </a:rPr>
              <a:t>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325" y="3926234"/>
            <a:ext cx="38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C5A059"/>
                </a:solidFill>
                <a:latin typeface="DM Sans"/>
              </a:rP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5325" y="3011239"/>
            <a:ext cx="38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C5A059"/>
                </a:solidFill>
                <a:latin typeface="DM Sans"/>
              </a:rPr>
              <a:t>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5325" y="3468737"/>
            <a:ext cx="38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C5A059"/>
                </a:solidFill>
                <a:latin typeface="DM Sans"/>
              </a:rP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5325" y="3926234"/>
            <a:ext cx="38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C5A059"/>
                </a:solidFill>
                <a:latin typeface="DM Sans"/>
              </a:rPr>
              <a:t>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5325" y="3011239"/>
            <a:ext cx="38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C5A059"/>
                </a:solidFill>
                <a:latin typeface="DM Sans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5325" y="3468737"/>
            <a:ext cx="38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C5A059"/>
                </a:solidFill>
                <a:latin typeface="DM Sans"/>
              </a:rPr>
              <a:t>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5325" y="3926234"/>
            <a:ext cx="38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C5A059"/>
                </a:solidFill>
                <a:latin typeface="DM Sans"/>
              </a:rP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0" y="285750"/>
            <a:ext cx="112395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09 — WEB APPLICATION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TEAM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250" y="504825"/>
            <a:ext cx="11715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0" sz="2700" i="0" u="none">
                <a:solidFill>
                  <a:srgbClr val="0B1220"/>
                </a:solidFill>
                <a:latin typeface="EB Garamond SemiBold"/>
              </a:rPr>
              <a:t>Interactive Enterprise Web 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207519"/>
            <a:ext cx="11239500" cy="83700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69641"/>
            <a:ext cx="3619500" cy="166642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2369641"/>
            <a:ext cx="3619500" cy="16664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369641"/>
            <a:ext cx="3619500" cy="166642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362700"/>
            <a:ext cx="112395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467475"/>
            <a:ext cx="27527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Team 30 · Retrospective &amp; Technical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5225" y="6467475"/>
            <a:ext cx="3905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37082"/>
                </a:solidFill>
                <a:latin typeface="DM Sans Medium"/>
              </a:rPr>
              <a:t>Slide 11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487912"/>
            <a:ext cx="2347912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6137" y="4407544"/>
            <a:ext cx="8072437" cy="436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</a:pPr>
            <a:r>
              <a:rPr b="0" sz="1162" i="0" u="none">
                <a:solidFill>
                  <a:srgbClr val="E2E8F0"/>
                </a:solidFill>
                <a:latin typeface="DM Sans"/>
              </a:rPr>
              <a:t>Engineered a resilient financial backend where business invariants, relational integrity, and regulatory governance are strictly enforced at the database and middleware layers rather than delegated to client assumptions.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2617291"/>
            <a:ext cx="31813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CHALLENGE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2845891"/>
            <a:ext cx="3340417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0" sz="1725" i="0" u="none">
                <a:solidFill>
                  <a:srgbClr val="0B1220"/>
                </a:solidFill>
                <a:latin typeface="EB Garamond SemiBold"/>
              </a:rPr>
              <a:t>Atomic Balance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3203971"/>
            <a:ext cx="3181350" cy="61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Orchestrated independent balance updates across two separate MongoDB account documents with strict pre-mutation validation.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325" y="2617291"/>
            <a:ext cx="31813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CHALLENGE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325" y="2845891"/>
            <a:ext cx="3340417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0" sz="1725" i="0" u="none">
                <a:solidFill>
                  <a:srgbClr val="0B1220"/>
                </a:solidFill>
                <a:latin typeface="EB Garamond SemiBold"/>
              </a:rPr>
              <a:t>Double-Entry Ledger Modeling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5325" y="3203971"/>
            <a:ext cx="3181350" cy="61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Solved point-in-time balance reconstruction by computing and storing on each transaction.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2617291"/>
            <a:ext cx="31813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CHALLENGE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2845891"/>
            <a:ext cx="3340417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0" sz="1725" i="0" u="none">
                <a:solidFill>
                  <a:srgbClr val="0B1220"/>
                </a:solidFill>
                <a:latin typeface="EB Garamond SemiBold"/>
              </a:rPr>
              <a:t>State Guard Enforcement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3203971"/>
            <a:ext cx="3181350" cy="408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b="0" sz="1087" i="0" u="none">
                <a:solidFill>
                  <a:srgbClr val="475569"/>
                </a:solidFill>
                <a:latin typeface="DM Sans"/>
              </a:rPr>
              <a:t>Built strict middleware preventing unauthorized operations on or accounts.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4275" y="2617291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3325" y="2617291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1700" y="3389262"/>
            <a:ext cx="10668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44275" y="2617291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0" y="3389262"/>
            <a:ext cx="609600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0" y="3389262"/>
            <a:ext cx="6858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6250" y="285750"/>
            <a:ext cx="112395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8C6319"/>
                </a:solidFill>
                <a:latin typeface="DM Sans"/>
              </a:rPr>
              <a:t>10 — CHALLENGES &amp; CONCLUSION</a:t>
            </a:r>
            <a:r>
              <a:rPr b="0" sz="1200" i="0" u="none">
                <a:solidFill>
                  <a:srgbClr val="1A2230"/>
                </a:solidFill>
                <a:latin typeface="DM Sans"/>
              </a:rPr>
              <a:t> </a:t>
            </a:r>
            <a:r>
              <a:rPr b="1" sz="1200" i="0" u="none">
                <a:solidFill>
                  <a:srgbClr val="8C6319"/>
                </a:solidFill>
                <a:latin typeface="DM Sans"/>
              </a:rPr>
              <a:t>TEAM 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250" y="504825"/>
            <a:ext cx="11715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0" sz="2700" i="0" u="none">
                <a:solidFill>
                  <a:srgbClr val="0B1220"/>
                </a:solidFill>
                <a:latin typeface="EB Garamond SemiBold"/>
              </a:rPr>
              <a:t>Key Learnings, Engineering Challenges &amp;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