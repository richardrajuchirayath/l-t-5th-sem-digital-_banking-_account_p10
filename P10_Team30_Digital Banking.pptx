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DM Sans Medium"/>
      <p:regular r:id="rId18"/>
      <p:bold r:id="rId19"/>
      <p:italic r:id="rId20"/>
      <p:boldItalic r:id="rId21"/>
    </p:embeddedFont>
    <p:embeddedFont>
      <p:font typeface="EB Garamond Medium"/>
      <p:regular r:id="rId22"/>
      <p:bold r:id="rId23"/>
      <p:italic r:id="rId24"/>
      <p:boldItalic r:id="rId25"/>
    </p:embeddedFont>
    <p:embeddedFont>
      <p:font typeface="EB Garamond SemiBold"/>
      <p:regular r:id="rId26"/>
      <p:bold r:id="rId27"/>
      <p:italic r:id="rId28"/>
      <p:boldItalic r:id="rId29"/>
    </p:embeddedFont>
    <p:embeddedFont>
      <p:font typeface="EB Garamond"/>
      <p:bold r:id="rId30"/>
      <p:boldItalic r:id="rId31"/>
    </p:embeddedFont>
    <p:embeddedFont>
      <p:font typeface="DM Sans SemiBold"/>
      <p:regular r:id="rId32"/>
      <p:bold r:id="rId33"/>
      <p:italic r:id="rId34"/>
      <p:boldItalic r:id="rId35"/>
    </p:embeddedFont>
    <p:embeddedFont>
      <p:font typeface="DM Sans"/>
      <p:regular r:id="rId36"/>
      <p:bold r:id="rId37"/>
      <p:italic r:id="rId38"/>
      <p:boldItalic r:id="rId39"/>
    </p:embeddedFont>
    <p:embeddedFont>
      <p:font typeface="JetBrains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jvN48dcfPyWkVV0V0B0ziHnkCq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77BD74-AA04-4C57-9890-40E591AC0B61}">
  <a:tblStyle styleId="{6A77BD74-AA04-4C57-9890-40E591AC0B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etBrainsMono-regular.fntdata"/><Relationship Id="rId20" Type="http://schemas.openxmlformats.org/officeDocument/2006/relationships/font" Target="fonts/DMSansMedium-italic.fntdata"/><Relationship Id="rId42" Type="http://schemas.openxmlformats.org/officeDocument/2006/relationships/font" Target="fonts/JetBrainsMono-italic.fntdata"/><Relationship Id="rId41" Type="http://schemas.openxmlformats.org/officeDocument/2006/relationships/font" Target="fonts/JetBrainsMono-bold.fntdata"/><Relationship Id="rId22" Type="http://schemas.openxmlformats.org/officeDocument/2006/relationships/font" Target="fonts/EBGaramondMedium-regular.fntdata"/><Relationship Id="rId44" Type="http://customschemas.google.com/relationships/presentationmetadata" Target="metadata"/><Relationship Id="rId21" Type="http://schemas.openxmlformats.org/officeDocument/2006/relationships/font" Target="fonts/DMSansMedium-boldItalic.fntdata"/><Relationship Id="rId43" Type="http://schemas.openxmlformats.org/officeDocument/2006/relationships/font" Target="fonts/JetBrainsMono-boldItalic.fntdata"/><Relationship Id="rId24" Type="http://schemas.openxmlformats.org/officeDocument/2006/relationships/font" Target="fonts/EBGaramondMedium-italic.fntdata"/><Relationship Id="rId23" Type="http://schemas.openxmlformats.org/officeDocument/2006/relationships/font" Target="fonts/EBGaramond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EBGaramondSemiBold-regular.fntdata"/><Relationship Id="rId25" Type="http://schemas.openxmlformats.org/officeDocument/2006/relationships/font" Target="fonts/EBGaramondMedium-boldItalic.fntdata"/><Relationship Id="rId28" Type="http://schemas.openxmlformats.org/officeDocument/2006/relationships/font" Target="fonts/EBGaramondSemiBold-italic.fntdata"/><Relationship Id="rId27" Type="http://schemas.openxmlformats.org/officeDocument/2006/relationships/font" Target="fonts/EBGaramond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EBGaramond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BGaramond-boldItalic.fntdata"/><Relationship Id="rId30" Type="http://schemas.openxmlformats.org/officeDocument/2006/relationships/font" Target="fonts/EBGaramond-bold.fntdata"/><Relationship Id="rId11" Type="http://schemas.openxmlformats.org/officeDocument/2006/relationships/slide" Target="slides/slide5.xml"/><Relationship Id="rId33" Type="http://schemas.openxmlformats.org/officeDocument/2006/relationships/font" Target="fonts/DMSansSemiBold-bold.fntdata"/><Relationship Id="rId10" Type="http://schemas.openxmlformats.org/officeDocument/2006/relationships/slide" Target="slides/slide4.xml"/><Relationship Id="rId32" Type="http://schemas.openxmlformats.org/officeDocument/2006/relationships/font" Target="fonts/DMSa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DMSa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DMSansSemiBold-italic.fntdata"/><Relationship Id="rId15" Type="http://schemas.openxmlformats.org/officeDocument/2006/relationships/slide" Target="slides/slide9.xml"/><Relationship Id="rId37" Type="http://schemas.openxmlformats.org/officeDocument/2006/relationships/font" Target="fonts/DMSans-bold.fntdata"/><Relationship Id="rId14" Type="http://schemas.openxmlformats.org/officeDocument/2006/relationships/slide" Target="slides/slide8.xml"/><Relationship Id="rId36" Type="http://schemas.openxmlformats.org/officeDocument/2006/relationships/font" Target="fonts/DMSans-regular.fntdata"/><Relationship Id="rId17" Type="http://schemas.openxmlformats.org/officeDocument/2006/relationships/slide" Target="slides/slide11.xml"/><Relationship Id="rId39" Type="http://schemas.openxmlformats.org/officeDocument/2006/relationships/font" Target="fonts/DM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DMSans-italic.fntdata"/><Relationship Id="rId19" Type="http://schemas.openxmlformats.org/officeDocument/2006/relationships/font" Target="fonts/DMSansMedium-bold.fntdata"/><Relationship Id="rId18" Type="http://schemas.openxmlformats.org/officeDocument/2006/relationships/font" Target="fonts/DM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8b9b130855_2_7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8b9b130855_2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8b9b130855_44_0)">
  <p:cSld name="Generated (g38b9b130855_44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6.png"/><Relationship Id="rId13" Type="http://schemas.openxmlformats.org/officeDocument/2006/relationships/image" Target="../media/image19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5" Type="http://schemas.openxmlformats.org/officeDocument/2006/relationships/image" Target="../media/image17.png"/><Relationship Id="rId14" Type="http://schemas.openxmlformats.org/officeDocument/2006/relationships/image" Target="../media/image15.png"/><Relationship Id="rId16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6.png"/><Relationship Id="rId7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24.png"/><Relationship Id="rId13" Type="http://schemas.openxmlformats.org/officeDocument/2006/relationships/image" Target="../media/image28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9" Type="http://schemas.openxmlformats.org/officeDocument/2006/relationships/image" Target="../media/image21.png"/><Relationship Id="rId15" Type="http://schemas.openxmlformats.org/officeDocument/2006/relationships/image" Target="../media/image32.png"/><Relationship Id="rId14" Type="http://schemas.openxmlformats.org/officeDocument/2006/relationships/image" Target="../media/image27.png"/><Relationship Id="rId17" Type="http://schemas.openxmlformats.org/officeDocument/2006/relationships/image" Target="../media/image8.png"/><Relationship Id="rId16" Type="http://schemas.openxmlformats.org/officeDocument/2006/relationships/image" Target="../media/image34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18" Type="http://schemas.openxmlformats.org/officeDocument/2006/relationships/image" Target="../media/image30.png"/><Relationship Id="rId7" Type="http://schemas.openxmlformats.org/officeDocument/2006/relationships/image" Target="../media/image22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47.png"/><Relationship Id="rId11" Type="http://schemas.openxmlformats.org/officeDocument/2006/relationships/image" Target="../media/image33.png"/><Relationship Id="rId10" Type="http://schemas.openxmlformats.org/officeDocument/2006/relationships/image" Target="../media/image36.png"/><Relationship Id="rId13" Type="http://schemas.openxmlformats.org/officeDocument/2006/relationships/image" Target="../media/image35.png"/><Relationship Id="rId1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9" Type="http://schemas.openxmlformats.org/officeDocument/2006/relationships/image" Target="../media/image37.png"/><Relationship Id="rId15" Type="http://schemas.openxmlformats.org/officeDocument/2006/relationships/image" Target="../media/image39.png"/><Relationship Id="rId14" Type="http://schemas.openxmlformats.org/officeDocument/2006/relationships/image" Target="../media/image49.png"/><Relationship Id="rId17" Type="http://schemas.openxmlformats.org/officeDocument/2006/relationships/image" Target="../media/image38.png"/><Relationship Id="rId16" Type="http://schemas.openxmlformats.org/officeDocument/2006/relationships/image" Target="../media/image48.png"/><Relationship Id="rId5" Type="http://schemas.openxmlformats.org/officeDocument/2006/relationships/image" Target="../media/image25.png"/><Relationship Id="rId19" Type="http://schemas.openxmlformats.org/officeDocument/2006/relationships/image" Target="../media/image41.png"/><Relationship Id="rId6" Type="http://schemas.openxmlformats.org/officeDocument/2006/relationships/image" Target="../media/image29.png"/><Relationship Id="rId18" Type="http://schemas.openxmlformats.org/officeDocument/2006/relationships/image" Target="../media/image13.png"/><Relationship Id="rId7" Type="http://schemas.openxmlformats.org/officeDocument/2006/relationships/image" Target="../media/image22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45.png"/><Relationship Id="rId13" Type="http://schemas.openxmlformats.org/officeDocument/2006/relationships/image" Target="../media/image50.png"/><Relationship Id="rId1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6.png"/><Relationship Id="rId9" Type="http://schemas.openxmlformats.org/officeDocument/2006/relationships/image" Target="../media/image6.png"/><Relationship Id="rId15" Type="http://schemas.openxmlformats.org/officeDocument/2006/relationships/image" Target="../media/image56.png"/><Relationship Id="rId14" Type="http://schemas.openxmlformats.org/officeDocument/2006/relationships/image" Target="../media/image59.png"/><Relationship Id="rId5" Type="http://schemas.openxmlformats.org/officeDocument/2006/relationships/image" Target="../media/image43.png"/><Relationship Id="rId6" Type="http://schemas.openxmlformats.org/officeDocument/2006/relationships/image" Target="../media/image42.png"/><Relationship Id="rId7" Type="http://schemas.openxmlformats.org/officeDocument/2006/relationships/image" Target="../media/image44.png"/><Relationship Id="rId8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7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9" Type="http://schemas.openxmlformats.org/officeDocument/2006/relationships/image" Target="../media/image58.png"/><Relationship Id="rId5" Type="http://schemas.openxmlformats.org/officeDocument/2006/relationships/image" Target="../media/image60.png"/><Relationship Id="rId6" Type="http://schemas.openxmlformats.org/officeDocument/2006/relationships/image" Target="../media/image6.png"/><Relationship Id="rId7" Type="http://schemas.openxmlformats.org/officeDocument/2006/relationships/image" Target="../media/image55.png"/><Relationship Id="rId8" Type="http://schemas.openxmlformats.org/officeDocument/2006/relationships/image" Target="../media/image6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76250" y="6467475"/>
            <a:ext cx="27717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System Architecture &amp; Engineering Foundation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1264089" y="6413432"/>
            <a:ext cx="438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</a:t>
            </a:r>
            <a:r>
              <a:rPr lang="en-US" sz="975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95337" y="2513855"/>
            <a:ext cx="10601325" cy="12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Digital Banking Account &amp; Transaction Management System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2000250" y="3982194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Core Banking &amp; Transaction Management Engine · Advanced JavaScript Backend Frameworks (Node.js &amp; Express.js)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4157662" y="2182862"/>
            <a:ext cx="714375" cy="14287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043487" y="2094755"/>
            <a:ext cx="2105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8C631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 STATEMENT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7319962" y="2182862"/>
            <a:ext cx="714375" cy="14287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4542829"/>
            <a:ext cx="11239500" cy="803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067520"/>
            <a:ext cx="5524500" cy="1085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067520"/>
            <a:ext cx="5524500" cy="1085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305175"/>
            <a:ext cx="5524500" cy="1085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3305175"/>
            <a:ext cx="5524500" cy="1085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476250" y="6467475"/>
            <a:ext cx="26574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Architectural Problem &amp; Engineering Solution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02</a:t>
            </a:r>
            <a:endParaRPr/>
          </a:p>
        </p:txBody>
      </p:sp>
      <p:pic>
        <p:nvPicPr>
          <p:cNvPr descr="image.png" id="107" name="Google Shape;10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4816078"/>
            <a:ext cx="12573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2238375" y="4723804"/>
            <a:ext cx="9239250" cy="441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A secure, double-entry style core banking backend engineered with atomic validation, strict account state machines, automated AML triggers, and multi-tier RBAC.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704850" y="2229445"/>
            <a:ext cx="5095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22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Concurrency &amp; Race Conditions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CHALLENGE 01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704850" y="2562820"/>
            <a:ext cx="5095875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Inter-account fund transfers risk double-spending or dirty reads if dual-account mutations are not handled atomically.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6419850" y="2229445"/>
            <a:ext cx="5095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22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Absence of Point-in-Time Auditability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CHALLENGE 02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6419850" y="2562820"/>
            <a:ext cx="5095875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Typical systems overwrite balance columns without preserving an immutable ledger with running historical balances.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704850" y="3467100"/>
            <a:ext cx="5095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22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Weak Governance &amp; Role Segregation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CHALLENGE 03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704850" y="3800475"/>
            <a:ext cx="5095875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Mixing retail customer actions with compliance enforcement leads to security oversights and unauthorized status changes.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6419850" y="3467100"/>
            <a:ext cx="5095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122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Unchecked Large Capital Outflows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CHALLENGE 04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6419850" y="3800475"/>
            <a:ext cx="5095875" cy="4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Lack of automated AML (Anti-Money Laundering) detection fails to flag rapid, high-value transfers for staff intervention.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01 — PROBLEM STATEMENT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476250" y="622849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Problem Statement &amp; Challenges in Core Banking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882080"/>
            <a:ext cx="3619500" cy="1748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0" y="1882080"/>
            <a:ext cx="3619500" cy="1748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1882080"/>
            <a:ext cx="3619500" cy="1748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783210"/>
            <a:ext cx="3619500" cy="1748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3783210"/>
            <a:ext cx="3619500" cy="1748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3783210"/>
            <a:ext cx="3619500" cy="1748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476250" y="6467475"/>
            <a:ext cx="1790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System Functional Boundaries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03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676275" y="2082105"/>
            <a:ext cx="3219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OBJECTIVE 01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676275" y="2301180"/>
            <a:ext cx="3380422" cy="26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Atomic Fund Transfer Engine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676275" y="2621160"/>
            <a:ext cx="32194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Eliminate double-spending through rigorous balance and daily limit checks prior to dual balance mutation.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4486275" y="2082105"/>
            <a:ext cx="3219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OBJECTIVE 02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4486275" y="2301180"/>
            <a:ext cx="3380422" cy="26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Double-Entry Ledger Accounting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4486275" y="2621160"/>
            <a:ext cx="32194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Maintain append-only transaction records storing running on every debit and credit.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8296275" y="2082105"/>
            <a:ext cx="3219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OBJECTIVE 03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8296275" y="2301180"/>
            <a:ext cx="3380422" cy="26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Granular 3-Tier RBAC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8296275" y="2621160"/>
            <a:ext cx="32194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Implement JWT bearer token authorization enforcing distinct boundaries for , , and .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676275" y="3983235"/>
            <a:ext cx="3219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OBJECTIVE 04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676275" y="4202310"/>
            <a:ext cx="3380422" cy="26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Automated AML Monitoring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676275" y="4522291"/>
            <a:ext cx="32194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Automatically intercept and flag transactions ≥ ₹50,000 for compliance review and audit escalation.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4486275" y="3983235"/>
            <a:ext cx="3219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OBJECTIVE 05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4486275" y="4202310"/>
            <a:ext cx="3380422" cy="26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Operational Workflow Lifecycle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4486275" y="4522291"/>
            <a:ext cx="32194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Provide bank staff with real-time approval queues, account freeze/unfreeze mechanisms, and audit logs.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8296275" y="3983235"/>
            <a:ext cx="32194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OBJECTIVE 06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8296275" y="4202310"/>
            <a:ext cx="3380422" cy="26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2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Interactive Executive Interface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8296275" y="4522291"/>
            <a:ext cx="32194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Provide a responsive web portal styled in a bespoke Cream &amp; Champagne Gold aesthetic with classic EB Garamond typography for viva evaluations.</a:t>
            </a:r>
            <a:endParaRPr/>
          </a:p>
        </p:txBody>
      </p:sp>
      <p:pic>
        <p:nvPicPr>
          <p:cNvPr descr="image.png" id="151" name="Google Shape;15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43325" y="208686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72375" y="208686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53075" y="2809279"/>
            <a:ext cx="10668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25225" y="208686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72750" y="2809279"/>
            <a:ext cx="762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96275" y="3016448"/>
            <a:ext cx="533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182100" y="3016448"/>
            <a:ext cx="533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743325" y="3987998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591425" y="3987998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363325" y="3987998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02 — OBJECTIVES &amp; SCOPE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476250" y="636248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Objectives &amp; System Scope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"/>
          <p:cNvSpPr txBox="1"/>
          <p:nvPr/>
        </p:nvSpPr>
        <p:spPr>
          <a:xfrm>
            <a:off x="476250" y="6467475"/>
            <a:ext cx="1866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Layered Boundary Enforcement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11239500" y="6467475"/>
            <a:ext cx="476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04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714375" y="1621035"/>
            <a:ext cx="1147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BE75"/>
                </a:solidFill>
                <a:latin typeface="DM Sans"/>
                <a:ea typeface="DM Sans"/>
                <a:cs typeface="DM Sans"/>
                <a:sym typeface="DM Sans"/>
              </a:rPr>
              <a:t>PIPELINE SEQUENCE (MVC + LAYERED GUARDS)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NODE.JS &amp; EXPRESS.JS</a:t>
            </a:r>
            <a:endParaRPr/>
          </a:p>
        </p:txBody>
      </p:sp>
      <p:grpSp>
        <p:nvGrpSpPr>
          <p:cNvPr id="172" name="Google Shape;172;p4"/>
          <p:cNvGrpSpPr/>
          <p:nvPr/>
        </p:nvGrpSpPr>
        <p:grpSpPr>
          <a:xfrm>
            <a:off x="476250" y="1428750"/>
            <a:ext cx="11239500" cy="4667400"/>
            <a:chOff x="476250" y="1428750"/>
            <a:chExt cx="11239500" cy="4667400"/>
          </a:xfrm>
        </p:grpSpPr>
        <p:sp>
          <p:nvSpPr>
            <p:cNvPr id="173" name="Google Shape;173;p4"/>
            <p:cNvSpPr/>
            <p:nvPr/>
          </p:nvSpPr>
          <p:spPr>
            <a:xfrm>
              <a:off x="476250" y="1428750"/>
              <a:ext cx="7334400" cy="4667400"/>
            </a:xfrm>
            <a:prstGeom prst="roundRect">
              <a:avLst>
                <a:gd fmla="val 1632" name="adj"/>
              </a:avLst>
            </a:prstGeom>
            <a:solidFill>
              <a:srgbClr val="0B12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096250" y="1428750"/>
              <a:ext cx="3619500" cy="4667400"/>
            </a:xfrm>
            <a:prstGeom prst="roundRect">
              <a:avLst>
                <a:gd fmla="val 2105" name="adj"/>
              </a:avLst>
            </a:prstGeom>
            <a:solidFill>
              <a:srgbClr val="F8F6F0"/>
            </a:solidFill>
            <a:ln cap="flat" cmpd="sng" w="9525">
              <a:solidFill>
                <a:srgbClr val="E0B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476250" y="1428750"/>
              <a:ext cx="7334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38125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0BE75"/>
                  </a:solidFill>
                  <a:latin typeface="DM Sans"/>
                  <a:ea typeface="DM Sans"/>
                  <a:cs typeface="DM Sans"/>
                  <a:sym typeface="DM Sans"/>
                </a:rPr>
                <a:t>PIPELINE SEQUENCE (MVC + LAYERED GUARDS) </a:t>
              </a:r>
              <a:r>
                <a:rPr b="1" lang="en-US" sz="1100">
                  <a:solidFill>
                    <a:srgbClr val="94A3B8"/>
                  </a:solidFill>
                  <a:latin typeface="DM Sans"/>
                  <a:ea typeface="DM Sans"/>
                  <a:cs typeface="DM Sans"/>
                  <a:sym typeface="DM Sans"/>
                </a:rPr>
                <a:t>NODE.JS &amp; EXPRESS.JS</a:t>
              </a:r>
              <a:endParaRPr b="1" sz="1100">
                <a:solidFill>
                  <a:srgbClr val="E0BE7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176" name="Google Shape;176;p4"/>
            <p:cNvCxnSpPr/>
            <p:nvPr/>
          </p:nvCxnSpPr>
          <p:spPr>
            <a:xfrm>
              <a:off x="714375" y="1905000"/>
              <a:ext cx="6858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2E384D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7" name="Google Shape;177;p4"/>
            <p:cNvGrpSpPr/>
            <p:nvPr/>
          </p:nvGrpSpPr>
          <p:grpSpPr>
            <a:xfrm>
              <a:off x="714375" y="2047875"/>
              <a:ext cx="3190800" cy="1095300"/>
              <a:chOff x="0" y="0"/>
              <a:chExt cx="3190800" cy="1095300"/>
            </a:xfrm>
          </p:grpSpPr>
          <p:sp>
            <p:nvSpPr>
              <p:cNvPr id="178" name="Google Shape;178;p4"/>
              <p:cNvSpPr/>
              <p:nvPr/>
            </p:nvSpPr>
            <p:spPr>
              <a:xfrm>
                <a:off x="0" y="0"/>
                <a:ext cx="3190800" cy="1095300"/>
              </a:xfrm>
              <a:prstGeom prst="roundRect">
                <a:avLst>
                  <a:gd fmla="val 5217" name="adj"/>
                </a:avLst>
              </a:prstGeom>
              <a:solidFill>
                <a:srgbClr val="151D30"/>
              </a:solidFill>
              <a:ln cap="flat" cmpd="sng" w="9525">
                <a:solidFill>
                  <a:srgbClr val="E0BE7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4"/>
              <p:cNvSpPr txBox="1"/>
              <p:nvPr/>
            </p:nvSpPr>
            <p:spPr>
              <a:xfrm>
                <a:off x="142875" y="114300"/>
                <a:ext cx="29052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E0BE7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01. REQUEST ENTRY</a:t>
                </a:r>
                <a:endParaRPr b="1" sz="950">
                  <a:solidFill>
                    <a:srgbClr val="E0BE7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HTTP Request initiated via Client Portal, Hoppscotch, or Postman client.</a:t>
                </a:r>
                <a:endParaRPr sz="1000">
                  <a:solidFill>
                    <a:srgbClr val="E2E8F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80" name="Google Shape;180;p4"/>
            <p:cNvGrpSpPr/>
            <p:nvPr/>
          </p:nvGrpSpPr>
          <p:grpSpPr>
            <a:xfrm>
              <a:off x="4191000" y="2047875"/>
              <a:ext cx="3381300" cy="1095300"/>
              <a:chOff x="0" y="0"/>
              <a:chExt cx="3381300" cy="1095300"/>
            </a:xfrm>
          </p:grpSpPr>
          <p:sp>
            <p:nvSpPr>
              <p:cNvPr id="181" name="Google Shape;181;p4"/>
              <p:cNvSpPr/>
              <p:nvPr/>
            </p:nvSpPr>
            <p:spPr>
              <a:xfrm>
                <a:off x="0" y="0"/>
                <a:ext cx="3381300" cy="1095300"/>
              </a:xfrm>
              <a:prstGeom prst="roundRect">
                <a:avLst>
                  <a:gd fmla="val 5217" name="adj"/>
                </a:avLst>
              </a:prstGeom>
              <a:solidFill>
                <a:srgbClr val="151D30"/>
              </a:solidFill>
              <a:ln cap="flat" cmpd="sng" w="9525">
                <a:solidFill>
                  <a:srgbClr val="2E38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4"/>
              <p:cNvSpPr txBox="1"/>
              <p:nvPr/>
            </p:nvSpPr>
            <p:spPr>
              <a:xfrm>
                <a:off x="142875" y="114300"/>
                <a:ext cx="30957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E0BE7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04. VALIDATION &amp; SANITIZATION</a:t>
                </a:r>
                <a:endParaRPr b="1" sz="950">
                  <a:solidFill>
                    <a:srgbClr val="E0BE7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94A3B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middleware/validate.js</a:t>
                </a:r>
                <a:b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</a:b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Strict input validation serving as a 400 Bad Request error boundary.</a:t>
                </a:r>
                <a:endParaRPr sz="1000">
                  <a:solidFill>
                    <a:srgbClr val="E2E8F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83" name="Google Shape;183;p4"/>
            <p:cNvGrpSpPr/>
            <p:nvPr/>
          </p:nvGrpSpPr>
          <p:grpSpPr>
            <a:xfrm>
              <a:off x="714375" y="3286125"/>
              <a:ext cx="3190800" cy="1238400"/>
              <a:chOff x="0" y="0"/>
              <a:chExt cx="3190800" cy="1238400"/>
            </a:xfrm>
          </p:grpSpPr>
          <p:sp>
            <p:nvSpPr>
              <p:cNvPr id="184" name="Google Shape;184;p4"/>
              <p:cNvSpPr/>
              <p:nvPr/>
            </p:nvSpPr>
            <p:spPr>
              <a:xfrm>
                <a:off x="0" y="0"/>
                <a:ext cx="3190800" cy="1238400"/>
              </a:xfrm>
              <a:prstGeom prst="roundRect">
                <a:avLst>
                  <a:gd fmla="val 4615" name="adj"/>
                </a:avLst>
              </a:prstGeom>
              <a:solidFill>
                <a:srgbClr val="151D30"/>
              </a:solidFill>
              <a:ln cap="flat" cmpd="sng" w="9525">
                <a:solidFill>
                  <a:srgbClr val="2E38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4"/>
              <p:cNvSpPr txBox="1"/>
              <p:nvPr/>
            </p:nvSpPr>
            <p:spPr>
              <a:xfrm>
                <a:off x="142875" y="114300"/>
                <a:ext cx="29052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E0BE7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02. BODY PARSING &amp; LOGGING</a:t>
                </a:r>
                <a:endParaRPr b="1" sz="950">
                  <a:solidFill>
                    <a:srgbClr val="E0BE7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CORS enablement, </a:t>
                </a:r>
                <a:r>
                  <a:rPr lang="en-US" sz="900">
                    <a:solidFill>
                      <a:srgbClr val="CBD5E1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express.json()</a:t>
                </a: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 body parser, and Morgan HTTP request logging.</a:t>
                </a:r>
                <a:endParaRPr sz="1000">
                  <a:solidFill>
                    <a:srgbClr val="E2E8F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86" name="Google Shape;186;p4"/>
            <p:cNvGrpSpPr/>
            <p:nvPr/>
          </p:nvGrpSpPr>
          <p:grpSpPr>
            <a:xfrm>
              <a:off x="4191000" y="3286125"/>
              <a:ext cx="3381300" cy="1238400"/>
              <a:chOff x="0" y="0"/>
              <a:chExt cx="3381300" cy="1238400"/>
            </a:xfrm>
          </p:grpSpPr>
          <p:sp>
            <p:nvSpPr>
              <p:cNvPr id="187" name="Google Shape;187;p4"/>
              <p:cNvSpPr/>
              <p:nvPr/>
            </p:nvSpPr>
            <p:spPr>
              <a:xfrm>
                <a:off x="0" y="0"/>
                <a:ext cx="3381300" cy="1238400"/>
              </a:xfrm>
              <a:prstGeom prst="roundRect">
                <a:avLst>
                  <a:gd fmla="val 4615" name="adj"/>
                </a:avLst>
              </a:prstGeom>
              <a:solidFill>
                <a:srgbClr val="151D30"/>
              </a:solidFill>
              <a:ln cap="flat" cmpd="sng" w="9525">
                <a:solidFill>
                  <a:srgbClr val="2E38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4"/>
              <p:cNvSpPr txBox="1"/>
              <p:nvPr/>
            </p:nvSpPr>
            <p:spPr>
              <a:xfrm>
                <a:off x="142875" y="114300"/>
                <a:ext cx="3095700" cy="10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E0BE7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05. DOMAIN CONTROLLER</a:t>
                </a:r>
                <a:endParaRPr b="1" sz="950">
                  <a:solidFill>
                    <a:srgbClr val="E0BE7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900">
                    <a:solidFill>
                      <a:srgbClr val="94A3B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controllers/*.js</a:t>
                </a:r>
                <a:b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</a:b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Executes core business logic and state transition guards.</a:t>
                </a:r>
                <a:endParaRPr sz="1000">
                  <a:solidFill>
                    <a:srgbClr val="E2E8F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89" name="Google Shape;189;p4"/>
            <p:cNvGrpSpPr/>
            <p:nvPr/>
          </p:nvGrpSpPr>
          <p:grpSpPr>
            <a:xfrm>
              <a:off x="714375" y="4667250"/>
              <a:ext cx="3190800" cy="1285800"/>
              <a:chOff x="0" y="0"/>
              <a:chExt cx="3190800" cy="1285800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0" y="0"/>
                <a:ext cx="3190800" cy="1285800"/>
              </a:xfrm>
              <a:prstGeom prst="roundRect">
                <a:avLst>
                  <a:gd fmla="val 4444" name="adj"/>
                </a:avLst>
              </a:prstGeom>
              <a:solidFill>
                <a:srgbClr val="151D30"/>
              </a:solidFill>
              <a:ln cap="flat" cmpd="sng" w="9525">
                <a:solidFill>
                  <a:srgbClr val="2E384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4"/>
              <p:cNvSpPr txBox="1"/>
              <p:nvPr/>
            </p:nvSpPr>
            <p:spPr>
              <a:xfrm>
                <a:off x="142875" y="114300"/>
                <a:ext cx="2905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E0BE7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03. SECURE AUTHENTICATION GUARDS</a:t>
                </a:r>
                <a:endParaRPr b="1" sz="950">
                  <a:solidFill>
                    <a:srgbClr val="E0BE7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JWT verification (</a:t>
                </a:r>
                <a:r>
                  <a:rPr lang="en-US" sz="900">
                    <a:solidFill>
                      <a:srgbClr val="94A3B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auth.js</a:t>
                </a: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) followed by RBAC role validation (Staff / Admin checks).</a:t>
                </a:r>
                <a:endParaRPr sz="1000">
                  <a:solidFill>
                    <a:srgbClr val="E2E8F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92" name="Google Shape;192;p4"/>
            <p:cNvGrpSpPr/>
            <p:nvPr/>
          </p:nvGrpSpPr>
          <p:grpSpPr>
            <a:xfrm>
              <a:off x="4191000" y="4667250"/>
              <a:ext cx="3381300" cy="1285800"/>
              <a:chOff x="0" y="0"/>
              <a:chExt cx="3381300" cy="1285800"/>
            </a:xfrm>
          </p:grpSpPr>
          <p:sp>
            <p:nvSpPr>
              <p:cNvPr id="193" name="Google Shape;193;p4"/>
              <p:cNvSpPr/>
              <p:nvPr/>
            </p:nvSpPr>
            <p:spPr>
              <a:xfrm>
                <a:off x="0" y="0"/>
                <a:ext cx="3381300" cy="1285800"/>
              </a:xfrm>
              <a:prstGeom prst="roundRect">
                <a:avLst>
                  <a:gd fmla="val 4444" name="adj"/>
                </a:avLst>
              </a:prstGeom>
              <a:solidFill>
                <a:srgbClr val="151D30"/>
              </a:solidFill>
              <a:ln cap="flat" cmpd="sng" w="9525">
                <a:solidFill>
                  <a:srgbClr val="E0BE7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4"/>
              <p:cNvSpPr txBox="1"/>
              <p:nvPr/>
            </p:nvSpPr>
            <p:spPr>
              <a:xfrm>
                <a:off x="142875" y="114300"/>
                <a:ext cx="30957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E0BE7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06. DATA PERSISTENCE &amp; OUTPUT</a:t>
                </a:r>
                <a:endParaRPr b="1" sz="950">
                  <a:solidFill>
                    <a:srgbClr val="E0BE7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Mongoose schema validation (</a:t>
                </a:r>
                <a:r>
                  <a:rPr lang="en-US" sz="900">
                    <a:solidFill>
                      <a:srgbClr val="94A3B8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models/*.js</a:t>
                </a:r>
                <a:r>
                  <a:rPr lang="en-US" sz="1000">
                    <a:solidFill>
                      <a:srgbClr val="E2E8F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), MongoDB Atlas commit, and Uniform Response Envelope dispatch.</a:t>
                </a:r>
                <a:endParaRPr sz="1000">
                  <a:solidFill>
                    <a:srgbClr val="E2E8F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sp>
          <p:nvSpPr>
            <p:cNvPr id="195" name="Google Shape;195;p4"/>
            <p:cNvSpPr/>
            <p:nvPr/>
          </p:nvSpPr>
          <p:spPr>
            <a:xfrm>
              <a:off x="3905250" y="2543175"/>
              <a:ext cx="2859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100000" y="0"/>
                  </a:moveTo>
                  <a:lnTo>
                    <a:pt x="120000" y="60000"/>
                  </a:lnTo>
                  <a:lnTo>
                    <a:pt x="10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E0B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3905250" y="5257800"/>
              <a:ext cx="2859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100000" y="0"/>
                  </a:moveTo>
                  <a:lnTo>
                    <a:pt x="120000" y="60000"/>
                  </a:lnTo>
                  <a:lnTo>
                    <a:pt x="10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E0B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 txBox="1"/>
            <p:nvPr/>
          </p:nvSpPr>
          <p:spPr>
            <a:xfrm>
              <a:off x="8334375" y="1714500"/>
              <a:ext cx="31434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B122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Pattern Rationale</a:t>
              </a:r>
              <a:endParaRPr b="1" sz="1800">
                <a:solidFill>
                  <a:srgbClr val="0B1220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Model-View-Controller (MVC) architecture coupled with modular layered middleware keeps HTTP routing completely isolated from banking transaction business rules.</a:t>
              </a:r>
              <a:endParaRPr sz="10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B122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Uniform Response Envelope</a:t>
              </a:r>
              <a:endParaRPr b="1" sz="1800">
                <a:solidFill>
                  <a:srgbClr val="0B1220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Standardizes all outbound API payloads (</a:t>
              </a:r>
              <a:r>
                <a:rPr lang="en-US" sz="950">
                  <a:solidFill>
                    <a:srgbClr val="8C631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sendSuccess</a:t>
              </a:r>
              <a:r>
                <a:rPr lang="en-US" sz="10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 and </a:t>
              </a:r>
              <a:r>
                <a:rPr lang="en-US" sz="950">
                  <a:solidFill>
                    <a:srgbClr val="8C631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sendError</a:t>
              </a:r>
              <a:r>
                <a:rPr lang="en-US" sz="10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), ensuring deterministic, highly reliable client contracts.</a:t>
              </a:r>
              <a:endParaRPr sz="10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98" name="Google Shape;198;p4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03 — ARCHITECTURAL DESIGN</a:t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476250" y="558475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Architectural Design &amp; Request Pipeline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2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42968" y="1397198"/>
            <a:ext cx="1428750" cy="30112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42968" y="4560837"/>
            <a:ext cx="1428750" cy="30112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5"/>
          <p:cNvSpPr txBox="1"/>
          <p:nvPr/>
        </p:nvSpPr>
        <p:spPr>
          <a:xfrm>
            <a:off x="476250" y="6467475"/>
            <a:ext cx="2552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Document Architecture &amp; Scale Trade-offs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05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657225" y="1921073"/>
            <a:ext cx="1153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58242993" y="1597223"/>
            <a:ext cx="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B1220"/>
                </a:solidFill>
                <a:latin typeface="EB Garamond"/>
                <a:ea typeface="EB Garamond"/>
                <a:cs typeface="EB Garamond"/>
                <a:sym typeface="EB Garamond"/>
              </a:rPr>
              <a:t>Embedded KYC Details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58242993" y="2425898"/>
            <a:ext cx="0" cy="180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Tightly coupled to the user; avoids expensive multi-collection joins during everyday session authentication.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58242993" y="4760862"/>
            <a:ext cx="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B1220"/>
                </a:solidFill>
                <a:latin typeface="EB Garamond"/>
                <a:ea typeface="EB Garamond"/>
                <a:cs typeface="EB Garamond"/>
                <a:sym typeface="EB Garamond"/>
              </a:rPr>
              <a:t>Referenced Accounts &amp; Ledgers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58242993" y="5589537"/>
            <a:ext cx="0" cy="126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Accommodates unbounded one-to-many scaling and circumvents MongoDB's strict 16MB single-document limit.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04 — DATABASE DESIGN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             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476250" y="582900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Database Design &amp; Data Modeling Rationale</a:t>
            </a:r>
            <a:r>
              <a:rPr lang="en-US" sz="2700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 (ER Model)</a:t>
            </a:r>
            <a:endParaRPr/>
          </a:p>
        </p:txBody>
      </p:sp>
      <p:pic>
        <p:nvPicPr>
          <p:cNvPr id="217" name="Google Shape;217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70225" y="1397200"/>
            <a:ext cx="8037754" cy="486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950094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1950094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1950094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783210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6250" y="3783210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3783210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6"/>
          <p:cNvSpPr txBox="1"/>
          <p:nvPr/>
        </p:nvSpPr>
        <p:spPr>
          <a:xfrm>
            <a:off x="476250" y="6467475"/>
            <a:ext cx="15144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Retail Banking Capabilities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06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704850" y="2231082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1</a:t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>
            <a:off x="704850" y="2440632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Customer Onboarding &amp; KYC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704850" y="2749153"/>
            <a:ext cx="3190875" cy="60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Registration with bcrypt-hashed passwords and structured KYC capture (, , address, income).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4514850" y="2231082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3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4514850" y="2440632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Account Lifecycle Management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4514850" y="2749153"/>
            <a:ext cx="3190875" cy="60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Customers apply for Savings or Current accounts; system generates and assigns unique 10-digit account numbers.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8324850" y="2131069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4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8324850" y="2340619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Beneficiary Management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8324850" y="2649140"/>
            <a:ext cx="3190875" cy="8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Whitelist trusted recipients; compound unique index prevents duplicates.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704850" y="4064198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5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704850" y="4273748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Fund Transfer Engine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704850" y="4582269"/>
            <a:ext cx="3190875" cy="60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Atomic transfers between accounts with simultaneous source debit and destination credit ledger mutations.</a:t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4514850" y="4164359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6 &amp; 7</a:t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4514850" y="4373909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Immutable Ledger &amp; Statements</a:t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4514850" y="4682430"/>
            <a:ext cx="3190875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Running ledger and date-filtered statement exports with net turnover statistics.</a:t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8324850" y="4064198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8</a:t>
            </a:r>
            <a:endParaRPr/>
          </a:p>
        </p:txBody>
      </p:sp>
      <p:sp>
        <p:nvSpPr>
          <p:cNvPr id="248" name="Google Shape;248;p6"/>
          <p:cNvSpPr txBox="1"/>
          <p:nvPr/>
        </p:nvSpPr>
        <p:spPr>
          <a:xfrm>
            <a:off x="8324850" y="4273748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Balance &amp; Limits Enforcement</a:t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8324850" y="4582269"/>
            <a:ext cx="3190875" cy="60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Enforces minimum balance (Savings: ₹1,000 | Current: ₹5,000) and cumulative daily transfer limit (₹1,00,000).</a:t>
            </a:r>
            <a:endParaRPr/>
          </a:p>
        </p:txBody>
      </p:sp>
      <p:pic>
        <p:nvPicPr>
          <p:cNvPr descr="image.png" id="250" name="Google Shape;250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24275" y="2231082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66950" y="2930276"/>
            <a:ext cx="8382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4850" y="3130450"/>
            <a:ext cx="1143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53325" y="223108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63325" y="2131069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24850" y="2830264"/>
            <a:ext cx="2286000" cy="428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705225" y="4064198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591425" y="4164359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048250" y="4663380"/>
            <a:ext cx="10668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325225" y="4064198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6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05 — CUSTOMER WORKFLOWS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261" name="Google Shape;261;p6"/>
          <p:cNvSpPr txBox="1"/>
          <p:nvPr/>
        </p:nvSpPr>
        <p:spPr>
          <a:xfrm>
            <a:off x="476250" y="670473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Core Modules — Customer Banking Workflows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950094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1950094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1950094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783210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6250" y="3783210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3783210"/>
            <a:ext cx="3619500" cy="1680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7"/>
          <p:cNvSpPr txBox="1"/>
          <p:nvPr/>
        </p:nvSpPr>
        <p:spPr>
          <a:xfrm>
            <a:off x="476250" y="6467475"/>
            <a:ext cx="22955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Administrative &amp; Compliance Authority</a:t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11249025" y="6467475"/>
            <a:ext cx="4667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07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704850" y="2131069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2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704850" y="2340619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Account Approval Workflow</a:t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>
            <a:off x="704850" y="2649140"/>
            <a:ext cx="3190875" cy="8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Staff reviews pending queue (), inspects KYC, and approves with initial deposit activation or rejects with mandatory remarks.</a:t>
            </a:r>
            <a:endParaRPr/>
          </a:p>
        </p:txBody>
      </p:sp>
      <p:sp>
        <p:nvSpPr>
          <p:cNvPr id="279" name="Google Shape;279;p7"/>
          <p:cNvSpPr txBox="1"/>
          <p:nvPr/>
        </p:nvSpPr>
        <p:spPr>
          <a:xfrm>
            <a:off x="4514850" y="2231082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9</a:t>
            </a:r>
            <a:endParaRPr/>
          </a:p>
        </p:txBody>
      </p:sp>
      <p:sp>
        <p:nvSpPr>
          <p:cNvPr id="280" name="Google Shape;280;p7"/>
          <p:cNvSpPr txBox="1"/>
          <p:nvPr/>
        </p:nvSpPr>
        <p:spPr>
          <a:xfrm>
            <a:off x="4514850" y="2440632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AML &amp; Suspicious Flagging</a:t>
            </a:r>
            <a:endParaRPr/>
          </a:p>
        </p:txBody>
      </p:sp>
      <p:sp>
        <p:nvSpPr>
          <p:cNvPr id="281" name="Google Shape;281;p7"/>
          <p:cNvSpPr txBox="1"/>
          <p:nvPr/>
        </p:nvSpPr>
        <p:spPr>
          <a:xfrm>
            <a:off x="4514850" y="2749153"/>
            <a:ext cx="3190875" cy="60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Automated threshold trigger on any transaction ≥ ₹50,000; flags transaction for compliance review and staff sign-off.</a:t>
            </a:r>
            <a:endParaRPr/>
          </a:p>
        </p:txBody>
      </p:sp>
      <p:sp>
        <p:nvSpPr>
          <p:cNvPr id="282" name="Google Shape;282;p7"/>
          <p:cNvSpPr txBox="1"/>
          <p:nvPr/>
        </p:nvSpPr>
        <p:spPr>
          <a:xfrm>
            <a:off x="8324850" y="2231082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10</a:t>
            </a:r>
            <a:endParaRPr/>
          </a:p>
        </p:txBody>
      </p:sp>
      <p:sp>
        <p:nvSpPr>
          <p:cNvPr id="283" name="Google Shape;283;p7"/>
          <p:cNvSpPr txBox="1"/>
          <p:nvPr/>
        </p:nvSpPr>
        <p:spPr>
          <a:xfrm>
            <a:off x="8324850" y="2440632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Account Freeze / Unfreeze</a:t>
            </a:r>
            <a:endParaRPr/>
          </a:p>
        </p:txBody>
      </p:sp>
      <p:sp>
        <p:nvSpPr>
          <p:cNvPr id="284" name="Google Shape;284;p7"/>
          <p:cNvSpPr txBox="1"/>
          <p:nvPr/>
        </p:nvSpPr>
        <p:spPr>
          <a:xfrm>
            <a:off x="8324850" y="2749153"/>
            <a:ext cx="3190875" cy="60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Security control transitioning accounts from to ; strictly blocks outgoing debits while preserving audit trails.</a:t>
            </a:r>
            <a:endParaRPr/>
          </a:p>
        </p:txBody>
      </p:sp>
      <p:sp>
        <p:nvSpPr>
          <p:cNvPr id="285" name="Google Shape;285;p7"/>
          <p:cNvSpPr txBox="1"/>
          <p:nvPr/>
        </p:nvSpPr>
        <p:spPr>
          <a:xfrm>
            <a:off x="704850" y="4064198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11</a:t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704850" y="4273748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Periodic Interest Accrual</a:t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704850" y="4582269"/>
            <a:ext cx="3190875" cy="60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Batch job calculating daily simple interest on active Savings accounts (4.0% per annum) with automated ledger accrual.</a:t>
            </a:r>
            <a:endParaRPr/>
          </a:p>
        </p:txBody>
      </p:sp>
      <p:sp>
        <p:nvSpPr>
          <p:cNvPr id="288" name="Google Shape;288;p7"/>
          <p:cNvSpPr txBox="1"/>
          <p:nvPr/>
        </p:nvSpPr>
        <p:spPr>
          <a:xfrm>
            <a:off x="4514850" y="4064198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12</a:t>
            </a:r>
            <a:endParaRPr/>
          </a:p>
        </p:txBody>
      </p:sp>
      <p:sp>
        <p:nvSpPr>
          <p:cNvPr id="289" name="Google Shape;289;p7"/>
          <p:cNvSpPr txBox="1"/>
          <p:nvPr/>
        </p:nvSpPr>
        <p:spPr>
          <a:xfrm>
            <a:off x="4514850" y="4273748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Staff Monitoring Dashboard</a:t>
            </a:r>
            <a:endParaRPr/>
          </a:p>
        </p:txBody>
      </p:sp>
      <p:sp>
        <p:nvSpPr>
          <p:cNvPr id="290" name="Google Shape;290;p7"/>
          <p:cNvSpPr txBox="1"/>
          <p:nvPr/>
        </p:nvSpPr>
        <p:spPr>
          <a:xfrm>
            <a:off x="4514850" y="4582269"/>
            <a:ext cx="3190875" cy="60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Bank-wide aggregated metrics: total deposits, pending queues, frozen accounts, and flagged counts across all branches.</a:t>
            </a:r>
            <a:endParaRPr/>
          </a:p>
        </p:txBody>
      </p:sp>
      <p:sp>
        <p:nvSpPr>
          <p:cNvPr id="291" name="Google Shape;291;p7"/>
          <p:cNvSpPr txBox="1"/>
          <p:nvPr/>
        </p:nvSpPr>
        <p:spPr>
          <a:xfrm>
            <a:off x="8324850" y="4164359"/>
            <a:ext cx="3190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MODULE 13</a:t>
            </a:r>
            <a:endParaRPr/>
          </a:p>
        </p:txBody>
      </p:sp>
      <p:sp>
        <p:nvSpPr>
          <p:cNvPr id="292" name="Google Shape;292;p7"/>
          <p:cNvSpPr txBox="1"/>
          <p:nvPr/>
        </p:nvSpPr>
        <p:spPr>
          <a:xfrm>
            <a:off x="8324850" y="4373909"/>
            <a:ext cx="33504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Role-Based Access Control</a:t>
            </a:r>
            <a:endParaRPr/>
          </a:p>
        </p:txBody>
      </p:sp>
      <p:sp>
        <p:nvSpPr>
          <p:cNvPr id="293" name="Google Shape;293;p7"/>
          <p:cNvSpPr txBox="1"/>
          <p:nvPr/>
        </p:nvSpPr>
        <p:spPr>
          <a:xfrm>
            <a:off x="8324850" y="4682430"/>
            <a:ext cx="3190875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JWT middleware enforcing strict access policies across , , and roles.</a:t>
            </a:r>
            <a:endParaRPr/>
          </a:p>
        </p:txBody>
      </p:sp>
      <p:pic>
        <p:nvPicPr>
          <p:cNvPr descr="image.png" id="294" name="Google Shape;294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62375" y="213106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2475" y="2830264"/>
            <a:ext cx="1371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53325" y="223108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382375" y="223108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24850" y="2930276"/>
            <a:ext cx="609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153525" y="2930276"/>
            <a:ext cx="609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771900" y="4064198"/>
            <a:ext cx="1238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553325" y="4064198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1382375" y="416435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782050" y="4863554"/>
            <a:ext cx="762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610725" y="4863554"/>
            <a:ext cx="533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487025" y="4863554"/>
            <a:ext cx="533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7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06 — STAFF GOVERNANCE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07" name="Google Shape;307;p7"/>
          <p:cNvSpPr txBox="1"/>
          <p:nvPr/>
        </p:nvSpPr>
        <p:spPr>
          <a:xfrm>
            <a:off x="476250" y="632374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Core Modules — Staff Operations &amp; Governance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2647801"/>
            <a:ext cx="11239500" cy="1034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3834854"/>
            <a:ext cx="2156370" cy="931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46920" y="3834854"/>
            <a:ext cx="2156519" cy="931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17740" y="3834854"/>
            <a:ext cx="2156370" cy="931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8410" y="3834854"/>
            <a:ext cx="2156519" cy="931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59230" y="3834854"/>
            <a:ext cx="2156370" cy="9313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8"/>
          <p:cNvSpPr txBox="1"/>
          <p:nvPr/>
        </p:nvSpPr>
        <p:spPr>
          <a:xfrm>
            <a:off x="476250" y="6467475"/>
            <a:ext cx="3143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Deterministic Finite State Machine &amp; Guard Hierarchy</a:t>
            </a:r>
            <a:endParaRPr/>
          </a:p>
        </p:txBody>
      </p:sp>
      <p:sp>
        <p:nvSpPr>
          <p:cNvPr id="321" name="Google Shape;321;p8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08</a:t>
            </a:r>
            <a:endParaRPr/>
          </a:p>
        </p:txBody>
      </p:sp>
      <p:sp>
        <p:nvSpPr>
          <p:cNvPr id="322" name="Google Shape;322;p8"/>
          <p:cNvSpPr txBox="1"/>
          <p:nvPr/>
        </p:nvSpPr>
        <p:spPr>
          <a:xfrm>
            <a:off x="695325" y="2809726"/>
            <a:ext cx="10801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B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FINITE STATE MACHINE (ACCOUNT LIFECYCLE)</a:t>
            </a:r>
            <a:endParaRPr/>
          </a:p>
        </p:txBody>
      </p:sp>
      <p:sp>
        <p:nvSpPr>
          <p:cNvPr id="323" name="Google Shape;323;p8"/>
          <p:cNvSpPr txBox="1"/>
          <p:nvPr/>
        </p:nvSpPr>
        <p:spPr>
          <a:xfrm>
            <a:off x="695325" y="3038326"/>
            <a:ext cx="10801350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[Customer Applies] ──► PENDING_APPROVAL ──(Staff Rejects)──► REJECTED (Terminated) │ (Staff Approves) ▼ ACTIVE ◄──────────────┐ │ │ (Staff Freezes) (Staff Unfreezes) ▼ │ FROZEN ───────────────┘ (Debits strictly blocked)</a:t>
            </a:r>
            <a:endParaRPr/>
          </a:p>
        </p:txBody>
      </p:sp>
      <p:sp>
        <p:nvSpPr>
          <p:cNvPr id="324" name="Google Shape;324;p8"/>
          <p:cNvSpPr txBox="1"/>
          <p:nvPr/>
        </p:nvSpPr>
        <p:spPr>
          <a:xfrm>
            <a:off x="619125" y="3996779"/>
            <a:ext cx="18706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1. Source Check</a:t>
            </a:r>
            <a:endParaRPr/>
          </a:p>
        </p:txBody>
      </p:sp>
      <p:sp>
        <p:nvSpPr>
          <p:cNvPr id="325" name="Google Shape;325;p8"/>
          <p:cNvSpPr txBox="1"/>
          <p:nvPr/>
        </p:nvSpPr>
        <p:spPr>
          <a:xfrm>
            <a:off x="619125" y="4244429"/>
            <a:ext cx="1870620" cy="378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Must be (reject if or ).</a:t>
            </a:r>
            <a:endParaRPr/>
          </a:p>
        </p:txBody>
      </p:sp>
      <p:sp>
        <p:nvSpPr>
          <p:cNvPr id="326" name="Google Shape;326;p8"/>
          <p:cNvSpPr txBox="1"/>
          <p:nvPr/>
        </p:nvSpPr>
        <p:spPr>
          <a:xfrm>
            <a:off x="2889795" y="3996779"/>
            <a:ext cx="187076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2. Self-Transfer</a:t>
            </a:r>
            <a:endParaRPr/>
          </a:p>
        </p:txBody>
      </p:sp>
      <p:sp>
        <p:nvSpPr>
          <p:cNvPr id="327" name="Google Shape;327;p8"/>
          <p:cNvSpPr txBox="1"/>
          <p:nvPr/>
        </p:nvSpPr>
        <p:spPr>
          <a:xfrm>
            <a:off x="2889795" y="4244429"/>
            <a:ext cx="1870769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Destination cannot equal source account.</a:t>
            </a:r>
            <a:endParaRPr/>
          </a:p>
        </p:txBody>
      </p:sp>
      <p:sp>
        <p:nvSpPr>
          <p:cNvPr id="328" name="Google Shape;328;p8"/>
          <p:cNvSpPr txBox="1"/>
          <p:nvPr/>
        </p:nvSpPr>
        <p:spPr>
          <a:xfrm>
            <a:off x="5160615" y="3996779"/>
            <a:ext cx="18706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3. Daily Guard</a:t>
            </a:r>
            <a:endParaRPr/>
          </a:p>
        </p:txBody>
      </p:sp>
      <p:sp>
        <p:nvSpPr>
          <p:cNvPr id="329" name="Google Shape;329;p8"/>
          <p:cNvSpPr txBox="1"/>
          <p:nvPr/>
        </p:nvSpPr>
        <p:spPr>
          <a:xfrm>
            <a:off x="5160615" y="4244429"/>
            <a:ext cx="1870620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Cumulative transfers cannot exceed ₹1,00,000.</a:t>
            </a:r>
            <a:endParaRPr/>
          </a:p>
        </p:txBody>
      </p:sp>
      <p:sp>
        <p:nvSpPr>
          <p:cNvPr id="330" name="Google Shape;330;p8"/>
          <p:cNvSpPr txBox="1"/>
          <p:nvPr/>
        </p:nvSpPr>
        <p:spPr>
          <a:xfrm>
            <a:off x="7431285" y="3996779"/>
            <a:ext cx="187076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4. Min Balance</a:t>
            </a:r>
            <a:endParaRPr/>
          </a:p>
        </p:txBody>
      </p:sp>
      <p:sp>
        <p:nvSpPr>
          <p:cNvPr id="331" name="Google Shape;331;p8"/>
          <p:cNvSpPr txBox="1"/>
          <p:nvPr/>
        </p:nvSpPr>
        <p:spPr>
          <a:xfrm>
            <a:off x="7431285" y="4244429"/>
            <a:ext cx="1870800" cy="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Minimum Balance threshold.</a:t>
            </a:r>
            <a:endParaRPr/>
          </a:p>
        </p:txBody>
      </p:sp>
      <p:sp>
        <p:nvSpPr>
          <p:cNvPr id="332" name="Google Shape;332;p8"/>
          <p:cNvSpPr txBox="1"/>
          <p:nvPr/>
        </p:nvSpPr>
        <p:spPr>
          <a:xfrm>
            <a:off x="9702105" y="3996779"/>
            <a:ext cx="18706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5. AML Policy</a:t>
            </a:r>
            <a:endParaRPr/>
          </a:p>
        </p:txBody>
      </p:sp>
      <p:sp>
        <p:nvSpPr>
          <p:cNvPr id="333" name="Google Shape;333;p8"/>
          <p:cNvSpPr txBox="1"/>
          <p:nvPr/>
        </p:nvSpPr>
        <p:spPr>
          <a:xfrm>
            <a:off x="9702105" y="4244429"/>
            <a:ext cx="1870620" cy="378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If , set .</a:t>
            </a:r>
            <a:endParaRPr/>
          </a:p>
        </p:txBody>
      </p:sp>
      <p:pic>
        <p:nvPicPr>
          <p:cNvPr descr="image.png" id="334" name="Google Shape;334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43000" y="4215850"/>
            <a:ext cx="6858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9125" y="4405312"/>
            <a:ext cx="609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28750" y="4405312"/>
            <a:ext cx="6858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33235" y="4444454"/>
            <a:ext cx="1524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816405" y="4215854"/>
            <a:ext cx="1296441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702105" y="4405312"/>
            <a:ext cx="12192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8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07 — STATE MACHINES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41" name="Google Shape;341;p8"/>
          <p:cNvSpPr txBox="1"/>
          <p:nvPr/>
        </p:nvSpPr>
        <p:spPr>
          <a:xfrm>
            <a:off x="476250" y="689523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State Transition Models &amp; Validation Rules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816298"/>
            <a:ext cx="1123950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9"/>
          <p:cNvSpPr txBox="1"/>
          <p:nvPr/>
        </p:nvSpPr>
        <p:spPr>
          <a:xfrm>
            <a:off x="476250" y="6467475"/>
            <a:ext cx="21907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Endpoint Testing &amp; Verification Matrix</a:t>
            </a:r>
            <a:endParaRPr/>
          </a:p>
        </p:txBody>
      </p:sp>
      <p:sp>
        <p:nvSpPr>
          <p:cNvPr id="350" name="Google Shape;350;p9"/>
          <p:cNvSpPr txBox="1"/>
          <p:nvPr/>
        </p:nvSpPr>
        <p:spPr>
          <a:xfrm>
            <a:off x="11239500" y="6467475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09</a:t>
            </a:r>
            <a:endParaRPr/>
          </a:p>
        </p:txBody>
      </p:sp>
      <p:graphicFrame>
        <p:nvGraphicFramePr>
          <p:cNvPr id="351" name="Google Shape;351;p9"/>
          <p:cNvGraphicFramePr/>
          <p:nvPr/>
        </p:nvGraphicFramePr>
        <p:xfrm>
          <a:off x="485775" y="18258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{6A77BD74-AA04-4C57-9890-40E591AC0B61}</a:tableStyleId>
              </a:tblPr>
              <a:tblGrid>
                <a:gridCol w="2692900"/>
                <a:gridCol w="1346450"/>
                <a:gridCol w="3141600"/>
                <a:gridCol w="4039500"/>
              </a:tblGrid>
              <a:tr h="62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CF9F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DEMONSTRATED WORKFLOW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CF9F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HTTP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CF9F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RESPONSE / 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FCF9F2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CONTROL DEMONSTRATED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</a:tr>
              <a:tr h="62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Happy Path Transfer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200 OK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Dual ledger records + updated balanceAfter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POST /api/transactions/transfer with two account numbers and ₹2,500.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Minimum Balance Violation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400 Bad Req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MINIMUM_BALANCE_VIOLATION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Transfer violating ₹1,00,0 threshold returns maximum transferable amount.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</a:tr>
              <a:tr h="62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Frozen Account Transfer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403 Forbidden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ACCOUNT_FROZEN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Outgoing debit blocked on non-active account.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RBAC Role Violation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403 Forbidden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FORBIDDEN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Customer token rejected when accessing /api/staff/dashboard.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BF7"/>
                    </a:solidFill>
                  </a:tcPr>
                </a:tc>
              </a:tr>
              <a:tr h="627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 Fields Validation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400 Bad Req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Custom validator response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87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Malformed payload caught cleanly by custom validator without server crash.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2" name="Google Shape;352;p9"/>
          <p:cNvSpPr/>
          <p:nvPr/>
        </p:nvSpPr>
        <p:spPr>
          <a:xfrm>
            <a:off x="485775" y="2244923"/>
            <a:ext cx="2692896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3178671" y="2244923"/>
            <a:ext cx="1346448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4525119" y="2244923"/>
            <a:ext cx="3141612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7666732" y="2244923"/>
            <a:ext cx="4039492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485775" y="2878335"/>
            <a:ext cx="2692896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3178671" y="2878335"/>
            <a:ext cx="1346448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4525119" y="2878335"/>
            <a:ext cx="314161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7666732" y="2878335"/>
            <a:ext cx="403949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485775" y="3554610"/>
            <a:ext cx="2692896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3178671" y="3554610"/>
            <a:ext cx="1346448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4525119" y="3554610"/>
            <a:ext cx="314161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7666732" y="3554610"/>
            <a:ext cx="403949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485775" y="4230885"/>
            <a:ext cx="2692896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3178671" y="4230885"/>
            <a:ext cx="1346448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4525119" y="4230885"/>
            <a:ext cx="314161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7666732" y="4230885"/>
            <a:ext cx="403949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485775" y="4907160"/>
            <a:ext cx="2692896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3178671" y="4907160"/>
            <a:ext cx="1346448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4525119" y="4907160"/>
            <a:ext cx="314161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7666732" y="4907160"/>
            <a:ext cx="4039492" cy="9525"/>
          </a:xfrm>
          <a:prstGeom prst="rect">
            <a:avLst/>
          </a:prstGeom>
          <a:solidFill>
            <a:srgbClr val="F3E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08 — API VERIFICATION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73" name="Google Shape;373;p9"/>
          <p:cNvSpPr txBox="1"/>
          <p:nvPr/>
        </p:nvSpPr>
        <p:spPr>
          <a:xfrm>
            <a:off x="476250" y="570674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API Demonstration &amp; Negative Edge Case Assertions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8" name="Google Shape;3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4736157"/>
            <a:ext cx="112395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" y="2115889"/>
            <a:ext cx="3619500" cy="24678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2115889"/>
            <a:ext cx="3619500" cy="24678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115889"/>
            <a:ext cx="3619500" cy="24678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0"/>
          <p:cNvSpPr txBox="1"/>
          <p:nvPr/>
        </p:nvSpPr>
        <p:spPr>
          <a:xfrm>
            <a:off x="476250" y="6467475"/>
            <a:ext cx="20859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Full-Stack Presentation Experience</a:t>
            </a:r>
            <a:endParaRPr/>
          </a:p>
        </p:txBody>
      </p:sp>
      <p:sp>
        <p:nvSpPr>
          <p:cNvPr id="385" name="Google Shape;385;p10"/>
          <p:cNvSpPr txBox="1"/>
          <p:nvPr/>
        </p:nvSpPr>
        <p:spPr>
          <a:xfrm>
            <a:off x="11277600" y="6467475"/>
            <a:ext cx="4381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Slide 10</a:t>
            </a:r>
            <a:endParaRPr/>
          </a:p>
        </p:txBody>
      </p:sp>
      <p:sp>
        <p:nvSpPr>
          <p:cNvPr id="386" name="Google Shape;386;p10"/>
          <p:cNvSpPr txBox="1"/>
          <p:nvPr/>
        </p:nvSpPr>
        <p:spPr>
          <a:xfrm>
            <a:off x="752475" y="4898082"/>
            <a:ext cx="59626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1F5F9"/>
                </a:solidFill>
                <a:latin typeface="EB Garamond Medium"/>
                <a:ea typeface="EB Garamond Medium"/>
                <a:cs typeface="EB Garamond Medium"/>
                <a:sym typeface="EB Garamond Medium"/>
              </a:rPr>
              <a:t>The interface is not decoration; it is the operational surface for the rules underneath.</a:t>
            </a:r>
            <a:endParaRPr/>
          </a:p>
        </p:txBody>
      </p:sp>
      <p:sp>
        <p:nvSpPr>
          <p:cNvPr id="387" name="Google Shape;387;p10"/>
          <p:cNvSpPr txBox="1"/>
          <p:nvPr/>
        </p:nvSpPr>
        <p:spPr>
          <a:xfrm>
            <a:off x="6781800" y="4940944"/>
            <a:ext cx="46958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BE7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CREAM &amp; CHAMPAGNE GOLD · EB GARAMOND · GENEROUS WHITESPACE</a:t>
            </a:r>
            <a:endParaRPr/>
          </a:p>
        </p:txBody>
      </p:sp>
      <p:sp>
        <p:nvSpPr>
          <p:cNvPr id="388" name="Google Shape;388;p10"/>
          <p:cNvSpPr txBox="1"/>
          <p:nvPr/>
        </p:nvSpPr>
        <p:spPr>
          <a:xfrm>
            <a:off x="695325" y="2344489"/>
            <a:ext cx="3181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C631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SURFACE 01</a:t>
            </a:r>
            <a:endParaRPr/>
          </a:p>
        </p:txBody>
      </p:sp>
      <p:sp>
        <p:nvSpPr>
          <p:cNvPr id="389" name="Google Shape;389;p10"/>
          <p:cNvSpPr txBox="1"/>
          <p:nvPr/>
        </p:nvSpPr>
        <p:spPr>
          <a:xfrm>
            <a:off x="695325" y="2554039"/>
            <a:ext cx="334041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Landing &amp; Auth Portal</a:t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695325" y="2906464"/>
            <a:ext cx="3181350" cy="952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 txBox="1"/>
          <p:nvPr/>
        </p:nvSpPr>
        <p:spPr>
          <a:xfrm>
            <a:off x="4505325" y="2344489"/>
            <a:ext cx="3181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C631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SURFACE 02</a:t>
            </a:r>
            <a:endParaRPr/>
          </a:p>
        </p:txBody>
      </p:sp>
      <p:sp>
        <p:nvSpPr>
          <p:cNvPr id="392" name="Google Shape;392;p10"/>
          <p:cNvSpPr txBox="1"/>
          <p:nvPr/>
        </p:nvSpPr>
        <p:spPr>
          <a:xfrm>
            <a:off x="4505325" y="2554039"/>
            <a:ext cx="334041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Customer Banking Console</a:t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4505325" y="2906464"/>
            <a:ext cx="3181350" cy="952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 txBox="1"/>
          <p:nvPr/>
        </p:nvSpPr>
        <p:spPr>
          <a:xfrm>
            <a:off x="8315325" y="2344489"/>
            <a:ext cx="3181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8C631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SURFACE 03</a:t>
            </a:r>
            <a:endParaRPr/>
          </a:p>
        </p:txBody>
      </p:sp>
      <p:sp>
        <p:nvSpPr>
          <p:cNvPr id="395" name="Google Shape;395;p10"/>
          <p:cNvSpPr txBox="1"/>
          <p:nvPr/>
        </p:nvSpPr>
        <p:spPr>
          <a:xfrm>
            <a:off x="8315325" y="2554039"/>
            <a:ext cx="334041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Staff Operations Console</a:t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8315325" y="2906464"/>
            <a:ext cx="3181350" cy="952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 txBox="1"/>
          <p:nvPr/>
        </p:nvSpPr>
        <p:spPr>
          <a:xfrm>
            <a:off x="828675" y="3011239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Live role switchers (, , ).</a:t>
            </a:r>
            <a:endParaRPr/>
          </a:p>
        </p:txBody>
      </p:sp>
      <p:sp>
        <p:nvSpPr>
          <p:cNvPr id="398" name="Google Shape;398;p10"/>
          <p:cNvSpPr txBox="1"/>
          <p:nvPr/>
        </p:nvSpPr>
        <p:spPr>
          <a:xfrm>
            <a:off x="828675" y="3468737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Dynamic JWT issue modals for live demo testing.</a:t>
            </a:r>
            <a:endParaRPr/>
          </a:p>
        </p:txBody>
      </p:sp>
      <p:sp>
        <p:nvSpPr>
          <p:cNvPr id="399" name="Google Shape;399;p10"/>
          <p:cNvSpPr txBox="1"/>
          <p:nvPr/>
        </p:nvSpPr>
        <p:spPr>
          <a:xfrm>
            <a:off x="828675" y="3926234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Encrypted session token storage with auto-refresh.</a:t>
            </a:r>
            <a:endParaRPr/>
          </a:p>
        </p:txBody>
      </p:sp>
      <p:sp>
        <p:nvSpPr>
          <p:cNvPr id="400" name="Google Shape;400;p10"/>
          <p:cNvSpPr txBox="1"/>
          <p:nvPr/>
        </p:nvSpPr>
        <p:spPr>
          <a:xfrm>
            <a:off x="4638675" y="3011239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Live account summary cards with real-time balances.</a:t>
            </a:r>
            <a:endParaRPr/>
          </a:p>
        </p:txBody>
      </p:sp>
      <p:sp>
        <p:nvSpPr>
          <p:cNvPr id="401" name="Google Shape;401;p10"/>
          <p:cNvSpPr txBox="1"/>
          <p:nvPr/>
        </p:nvSpPr>
        <p:spPr>
          <a:xfrm>
            <a:off x="4638675" y="3468737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Quick-transfer modal with beneficiary dropdown list.</a:t>
            </a:r>
            <a:endParaRPr/>
          </a:p>
        </p:txBody>
      </p:sp>
      <p:sp>
        <p:nvSpPr>
          <p:cNvPr id="402" name="Google Shape;402;p10"/>
          <p:cNvSpPr txBox="1"/>
          <p:nvPr/>
        </p:nvSpPr>
        <p:spPr>
          <a:xfrm>
            <a:off x="4638675" y="3926234"/>
            <a:ext cx="3048000" cy="200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Real-time immutable transaction ledger table.</a:t>
            </a:r>
            <a:endParaRPr/>
          </a:p>
        </p:txBody>
      </p:sp>
      <p:sp>
        <p:nvSpPr>
          <p:cNvPr id="403" name="Google Shape;403;p10"/>
          <p:cNvSpPr txBox="1"/>
          <p:nvPr/>
        </p:nvSpPr>
        <p:spPr>
          <a:xfrm>
            <a:off x="8448675" y="3011239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Pending KYC applications queue with single-click actions.</a:t>
            </a:r>
            <a:endParaRPr/>
          </a:p>
        </p:txBody>
      </p:sp>
      <p:sp>
        <p:nvSpPr>
          <p:cNvPr id="404" name="Google Shape;404;p10"/>
          <p:cNvSpPr txBox="1"/>
          <p:nvPr/>
        </p:nvSpPr>
        <p:spPr>
          <a:xfrm>
            <a:off x="8448675" y="3468737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Suspicious AML transaction queue with dismiss workflow.</a:t>
            </a:r>
            <a:endParaRPr/>
          </a:p>
        </p:txBody>
      </p:sp>
      <p:sp>
        <p:nvSpPr>
          <p:cNvPr id="405" name="Google Shape;405;p10"/>
          <p:cNvSpPr txBox="1"/>
          <p:nvPr/>
        </p:nvSpPr>
        <p:spPr>
          <a:xfrm>
            <a:off x="8448675" y="3926234"/>
            <a:ext cx="3048000" cy="400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Administrative security freeze and unfreeze controls.</a:t>
            </a:r>
            <a:endParaRPr/>
          </a:p>
        </p:txBody>
      </p:sp>
      <p:sp>
        <p:nvSpPr>
          <p:cNvPr id="406" name="Google Shape;406;p10"/>
          <p:cNvSpPr txBox="1"/>
          <p:nvPr/>
        </p:nvSpPr>
        <p:spPr>
          <a:xfrm>
            <a:off x="695325" y="3011239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pic>
        <p:nvPicPr>
          <p:cNvPr descr="image.png" id="407" name="Google Shape;407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992189"/>
            <a:ext cx="762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14650" y="2992189"/>
            <a:ext cx="533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8675" y="3192363"/>
            <a:ext cx="533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0"/>
          <p:cNvSpPr txBox="1"/>
          <p:nvPr/>
        </p:nvSpPr>
        <p:spPr>
          <a:xfrm>
            <a:off x="695325" y="3468737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11" name="Google Shape;411;p10"/>
          <p:cNvSpPr txBox="1"/>
          <p:nvPr/>
        </p:nvSpPr>
        <p:spPr>
          <a:xfrm>
            <a:off x="695325" y="3926234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12" name="Google Shape;412;p10"/>
          <p:cNvSpPr txBox="1"/>
          <p:nvPr/>
        </p:nvSpPr>
        <p:spPr>
          <a:xfrm>
            <a:off x="4505325" y="3011239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13" name="Google Shape;413;p10"/>
          <p:cNvSpPr txBox="1"/>
          <p:nvPr/>
        </p:nvSpPr>
        <p:spPr>
          <a:xfrm>
            <a:off x="4505325" y="3468737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14" name="Google Shape;414;p10"/>
          <p:cNvSpPr txBox="1"/>
          <p:nvPr/>
        </p:nvSpPr>
        <p:spPr>
          <a:xfrm>
            <a:off x="4505325" y="3926234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15" name="Google Shape;415;p10"/>
          <p:cNvSpPr txBox="1"/>
          <p:nvPr/>
        </p:nvSpPr>
        <p:spPr>
          <a:xfrm>
            <a:off x="8315325" y="3011239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16" name="Google Shape;416;p10"/>
          <p:cNvSpPr txBox="1"/>
          <p:nvPr/>
        </p:nvSpPr>
        <p:spPr>
          <a:xfrm>
            <a:off x="8315325" y="3468737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17" name="Google Shape;417;p10"/>
          <p:cNvSpPr txBox="1"/>
          <p:nvPr/>
        </p:nvSpPr>
        <p:spPr>
          <a:xfrm>
            <a:off x="8315325" y="3926234"/>
            <a:ext cx="38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418" name="Google Shape;418;p10"/>
          <p:cNvSpPr txBox="1"/>
          <p:nvPr/>
        </p:nvSpPr>
        <p:spPr>
          <a:xfrm>
            <a:off x="476250" y="285750"/>
            <a:ext cx="1123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09 — WEB APPLICATION</a:t>
            </a:r>
            <a:r>
              <a:rPr b="0" i="0" lang="en-US" sz="1200" u="none" cap="none" strike="noStrike">
                <a:solidFill>
                  <a:srgbClr val="1A22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419" name="Google Shape;419;p10"/>
          <p:cNvSpPr txBox="1"/>
          <p:nvPr/>
        </p:nvSpPr>
        <p:spPr>
          <a:xfrm>
            <a:off x="476250" y="498749"/>
            <a:ext cx="117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Interactive Enterprise Web Application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g38b9b130855_2_7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g38b9b130855_2_702"/>
          <p:cNvSpPr/>
          <p:nvPr/>
        </p:nvSpPr>
        <p:spPr>
          <a:xfrm>
            <a:off x="476250" y="63627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6" name="Google Shape;426;g38b9b130855_2_7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6362700"/>
            <a:ext cx="112395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38b9b130855_2_702"/>
          <p:cNvSpPr txBox="1"/>
          <p:nvPr/>
        </p:nvSpPr>
        <p:spPr>
          <a:xfrm>
            <a:off x="476250" y="6467475"/>
            <a:ext cx="3810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75">
                <a:solidFill>
                  <a:srgbClr val="63708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Team 30 · Engineering Retro &amp; Synthesis</a:t>
            </a:r>
            <a:endParaRPr b="0" sz="975">
              <a:solidFill>
                <a:srgbClr val="63708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28" name="Google Shape;428;g38b9b130855_2_702"/>
          <p:cNvSpPr txBox="1"/>
          <p:nvPr/>
        </p:nvSpPr>
        <p:spPr>
          <a:xfrm>
            <a:off x="476250" y="285750"/>
            <a:ext cx="11239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rPr>
              <a:t>10 — CHALLENGES &amp; CONCLUSION </a:t>
            </a:r>
            <a:endParaRPr b="1" sz="1200">
              <a:solidFill>
                <a:srgbClr val="8C631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9" name="Google Shape;429;g38b9b130855_2_702"/>
          <p:cNvSpPr txBox="1"/>
          <p:nvPr/>
        </p:nvSpPr>
        <p:spPr>
          <a:xfrm>
            <a:off x="476250" y="582900"/>
            <a:ext cx="11239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700">
                <a:solidFill>
                  <a:srgbClr val="0B1220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Key Learnings, Engineering Challenges &amp; Conclusion</a:t>
            </a:r>
            <a:endParaRPr b="0" sz="2700">
              <a:solidFill>
                <a:srgbClr val="0B1220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grpSp>
        <p:nvGrpSpPr>
          <p:cNvPr id="430" name="Google Shape;430;g38b9b130855_2_702"/>
          <p:cNvGrpSpPr/>
          <p:nvPr/>
        </p:nvGrpSpPr>
        <p:grpSpPr>
          <a:xfrm>
            <a:off x="476250" y="2095500"/>
            <a:ext cx="3486300" cy="2667000"/>
            <a:chOff x="0" y="0"/>
            <a:chExt cx="3486300" cy="2667000"/>
          </a:xfrm>
        </p:grpSpPr>
        <p:sp>
          <p:nvSpPr>
            <p:cNvPr id="431" name="Google Shape;431;g38b9b130855_2_702"/>
            <p:cNvSpPr/>
            <p:nvPr/>
          </p:nvSpPr>
          <p:spPr>
            <a:xfrm>
              <a:off x="0" y="0"/>
              <a:ext cx="3486300" cy="2667000"/>
            </a:xfrm>
            <a:prstGeom prst="roundRect">
              <a:avLst>
                <a:gd fmla="val 285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g38b9b130855_2_702"/>
            <p:cNvSpPr/>
            <p:nvPr/>
          </p:nvSpPr>
          <p:spPr>
            <a:xfrm>
              <a:off x="0" y="0"/>
              <a:ext cx="57300" cy="2667000"/>
            </a:xfrm>
            <a:prstGeom prst="roundRect">
              <a:avLst>
                <a:gd fmla="val 49999" name="adj"/>
              </a:avLst>
            </a:prstGeom>
            <a:solidFill>
              <a:srgbClr val="8C631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g38b9b130855_2_702"/>
            <p:cNvSpPr txBox="1"/>
            <p:nvPr/>
          </p:nvSpPr>
          <p:spPr>
            <a:xfrm>
              <a:off x="285750" y="333375"/>
              <a:ext cx="29148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8C6319"/>
                  </a:solidFill>
                  <a:latin typeface="DM Sans"/>
                  <a:ea typeface="DM Sans"/>
                  <a:cs typeface="DM Sans"/>
                  <a:sym typeface="DM Sans"/>
                </a:rPr>
                <a:t>01 / TRANSACTION INTEGRITY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B122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Atomic Balance Updates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Orchestrated independent balance updates across two separate MongoDB account documents with strict, state-aware pre-mutation validation.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34" name="Google Shape;434;g38b9b130855_2_702"/>
          <p:cNvGrpSpPr/>
          <p:nvPr/>
        </p:nvGrpSpPr>
        <p:grpSpPr>
          <a:xfrm>
            <a:off x="4343400" y="2095500"/>
            <a:ext cx="3486300" cy="2667000"/>
            <a:chOff x="0" y="0"/>
            <a:chExt cx="3486300" cy="2667000"/>
          </a:xfrm>
        </p:grpSpPr>
        <p:sp>
          <p:nvSpPr>
            <p:cNvPr id="435" name="Google Shape;435;g38b9b130855_2_702"/>
            <p:cNvSpPr/>
            <p:nvPr/>
          </p:nvSpPr>
          <p:spPr>
            <a:xfrm>
              <a:off x="0" y="0"/>
              <a:ext cx="3486300" cy="2667000"/>
            </a:xfrm>
            <a:prstGeom prst="roundRect">
              <a:avLst>
                <a:gd fmla="val 285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g38b9b130855_2_702"/>
            <p:cNvSpPr/>
            <p:nvPr/>
          </p:nvSpPr>
          <p:spPr>
            <a:xfrm>
              <a:off x="0" y="0"/>
              <a:ext cx="57300" cy="2667000"/>
            </a:xfrm>
            <a:prstGeom prst="roundRect">
              <a:avLst>
                <a:gd fmla="val 49999" name="adj"/>
              </a:avLst>
            </a:prstGeom>
            <a:solidFill>
              <a:srgbClr val="0B122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g38b9b130855_2_702"/>
            <p:cNvSpPr txBox="1"/>
            <p:nvPr/>
          </p:nvSpPr>
          <p:spPr>
            <a:xfrm>
              <a:off x="285750" y="333375"/>
              <a:ext cx="29148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8C6319"/>
                  </a:solidFill>
                  <a:latin typeface="DM Sans"/>
                  <a:ea typeface="DM Sans"/>
                  <a:cs typeface="DM Sans"/>
                  <a:sym typeface="DM Sans"/>
                </a:rPr>
                <a:t>02 / DATA ARCHITECTURE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B122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Double-Entry Ledger Modeling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Solved point-in-time balance reconstruction by computing and storing balanceAfter on each individual ledger mutation.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438" name="Google Shape;438;g38b9b130855_2_702"/>
          <p:cNvGrpSpPr/>
          <p:nvPr/>
        </p:nvGrpSpPr>
        <p:grpSpPr>
          <a:xfrm>
            <a:off x="8210550" y="2095500"/>
            <a:ext cx="3486300" cy="2667000"/>
            <a:chOff x="0" y="0"/>
            <a:chExt cx="3486300" cy="2667000"/>
          </a:xfrm>
        </p:grpSpPr>
        <p:sp>
          <p:nvSpPr>
            <p:cNvPr id="439" name="Google Shape;439;g38b9b130855_2_702"/>
            <p:cNvSpPr/>
            <p:nvPr/>
          </p:nvSpPr>
          <p:spPr>
            <a:xfrm>
              <a:off x="0" y="0"/>
              <a:ext cx="3486300" cy="2667000"/>
            </a:xfrm>
            <a:prstGeom prst="roundRect">
              <a:avLst>
                <a:gd fmla="val 285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g38b9b130855_2_702"/>
            <p:cNvSpPr/>
            <p:nvPr/>
          </p:nvSpPr>
          <p:spPr>
            <a:xfrm>
              <a:off x="0" y="0"/>
              <a:ext cx="57300" cy="2667000"/>
            </a:xfrm>
            <a:prstGeom prst="roundRect">
              <a:avLst>
                <a:gd fmla="val 49999" name="adj"/>
              </a:avLst>
            </a:prstGeom>
            <a:solidFill>
              <a:srgbClr val="8C631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g38b9b130855_2_702"/>
            <p:cNvSpPr txBox="1"/>
            <p:nvPr/>
          </p:nvSpPr>
          <p:spPr>
            <a:xfrm>
              <a:off x="285750" y="333375"/>
              <a:ext cx="29148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8C6319"/>
                  </a:solidFill>
                  <a:latin typeface="DM Sans"/>
                  <a:ea typeface="DM Sans"/>
                  <a:cs typeface="DM Sans"/>
                  <a:sym typeface="DM Sans"/>
                </a:rPr>
                <a:t>03 / SECURITY GUARDS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B1220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State Guard Enforcement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60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Built strict pipeline middleware preventing unauthorized debit or credit operations on FROZEN or PENDING accounts.</a:t>
              </a:r>
              <a:endParaRPr b="1" sz="1050">
                <a:solidFill>
                  <a:srgbClr val="8C631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