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DM Sans Medium"/>
      <p:regular r:id="rId18"/>
      <p:bold r:id="rId19"/>
      <p:italic r:id="rId20"/>
      <p:boldItalic r:id="rId21"/>
    </p:embeddedFont>
    <p:embeddedFont>
      <p:font typeface="EB Garamond Medium"/>
      <p:regular r:id="rId22"/>
      <p:bold r:id="rId23"/>
      <p:italic r:id="rId24"/>
      <p:boldItalic r:id="rId25"/>
    </p:embeddedFont>
    <p:embeddedFont>
      <p:font typeface="EB Garamond SemiBold"/>
      <p:regular r:id="rId26"/>
      <p:bold r:id="rId27"/>
      <p:italic r:id="rId28"/>
      <p:boldItalic r:id="rId29"/>
    </p:embeddedFont>
    <p:embeddedFont>
      <p:font typeface="EB Garamond"/>
      <p:bold r:id="rId30"/>
      <p:boldItalic r:id="rId31"/>
    </p:embeddedFont>
    <p:embeddedFont>
      <p:font typeface="DM Sans SemiBold"/>
      <p:regular r:id="rId32"/>
      <p:bold r:id="rId33"/>
      <p:italic r:id="rId34"/>
      <p:boldItalic r:id="rId35"/>
    </p:embeddedFont>
    <p:embeddedFont>
      <p:font typeface="DM Sans"/>
      <p:regular r:id="rId36"/>
      <p:bold r:id="rId37"/>
      <p:italic r:id="rId38"/>
      <p:boldItalic r:id="rId39"/>
    </p:embeddedFont>
    <p:embeddedFont>
      <p:font typeface="JetBrains Mono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4" roundtripDataSignature="AMtx7miHWp8dPNsCvdRlvPQtZf5E8KhV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2F1A4B2-B122-469A-BDA7-AFCB6816E159}">
  <a:tblStyle styleId="{E2F1A4B2-B122-469A-BDA7-AFCB6816E15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JetBrainsMono-regular.fntdata"/><Relationship Id="rId20" Type="http://schemas.openxmlformats.org/officeDocument/2006/relationships/font" Target="fonts/DMSansMedium-italic.fntdata"/><Relationship Id="rId42" Type="http://schemas.openxmlformats.org/officeDocument/2006/relationships/font" Target="fonts/JetBrainsMono-italic.fntdata"/><Relationship Id="rId41" Type="http://schemas.openxmlformats.org/officeDocument/2006/relationships/font" Target="fonts/JetBrainsMono-bold.fntdata"/><Relationship Id="rId22" Type="http://schemas.openxmlformats.org/officeDocument/2006/relationships/font" Target="fonts/EBGaramondMedium-regular.fntdata"/><Relationship Id="rId44" Type="http://customschemas.google.com/relationships/presentationmetadata" Target="metadata"/><Relationship Id="rId21" Type="http://schemas.openxmlformats.org/officeDocument/2006/relationships/font" Target="fonts/DMSansMedium-boldItalic.fntdata"/><Relationship Id="rId43" Type="http://schemas.openxmlformats.org/officeDocument/2006/relationships/font" Target="fonts/JetBrainsMono-boldItalic.fntdata"/><Relationship Id="rId24" Type="http://schemas.openxmlformats.org/officeDocument/2006/relationships/font" Target="fonts/EBGaramondMedium-italic.fntdata"/><Relationship Id="rId23" Type="http://schemas.openxmlformats.org/officeDocument/2006/relationships/font" Target="fonts/EBGaramondMedium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EBGaramondSemiBold-regular.fntdata"/><Relationship Id="rId25" Type="http://schemas.openxmlformats.org/officeDocument/2006/relationships/font" Target="fonts/EBGaramondMedium-boldItalic.fntdata"/><Relationship Id="rId28" Type="http://schemas.openxmlformats.org/officeDocument/2006/relationships/font" Target="fonts/EBGaramondSemiBold-italic.fntdata"/><Relationship Id="rId27" Type="http://schemas.openxmlformats.org/officeDocument/2006/relationships/font" Target="fonts/EBGaramondSemiBold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EBGaramondSemiBold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EBGaramond-boldItalic.fntdata"/><Relationship Id="rId30" Type="http://schemas.openxmlformats.org/officeDocument/2006/relationships/font" Target="fonts/EBGaramond-bold.fntdata"/><Relationship Id="rId11" Type="http://schemas.openxmlformats.org/officeDocument/2006/relationships/slide" Target="slides/slide5.xml"/><Relationship Id="rId33" Type="http://schemas.openxmlformats.org/officeDocument/2006/relationships/font" Target="fonts/DMSansSemiBold-bold.fntdata"/><Relationship Id="rId10" Type="http://schemas.openxmlformats.org/officeDocument/2006/relationships/slide" Target="slides/slide4.xml"/><Relationship Id="rId32" Type="http://schemas.openxmlformats.org/officeDocument/2006/relationships/font" Target="fonts/DMSansSemiBold-regular.fntdata"/><Relationship Id="rId13" Type="http://schemas.openxmlformats.org/officeDocument/2006/relationships/slide" Target="slides/slide7.xml"/><Relationship Id="rId35" Type="http://schemas.openxmlformats.org/officeDocument/2006/relationships/font" Target="fonts/DMSansSemiBold-boldItalic.fntdata"/><Relationship Id="rId12" Type="http://schemas.openxmlformats.org/officeDocument/2006/relationships/slide" Target="slides/slide6.xml"/><Relationship Id="rId34" Type="http://schemas.openxmlformats.org/officeDocument/2006/relationships/font" Target="fonts/DMSansSemiBold-italic.fntdata"/><Relationship Id="rId15" Type="http://schemas.openxmlformats.org/officeDocument/2006/relationships/slide" Target="slides/slide9.xml"/><Relationship Id="rId37" Type="http://schemas.openxmlformats.org/officeDocument/2006/relationships/font" Target="fonts/DMSans-bold.fntdata"/><Relationship Id="rId14" Type="http://schemas.openxmlformats.org/officeDocument/2006/relationships/slide" Target="slides/slide8.xml"/><Relationship Id="rId36" Type="http://schemas.openxmlformats.org/officeDocument/2006/relationships/font" Target="fonts/DMSans-regular.fntdata"/><Relationship Id="rId17" Type="http://schemas.openxmlformats.org/officeDocument/2006/relationships/slide" Target="slides/slide11.xml"/><Relationship Id="rId39" Type="http://schemas.openxmlformats.org/officeDocument/2006/relationships/font" Target="fonts/DMSans-boldItalic.fntdata"/><Relationship Id="rId16" Type="http://schemas.openxmlformats.org/officeDocument/2006/relationships/slide" Target="slides/slide10.xml"/><Relationship Id="rId38" Type="http://schemas.openxmlformats.org/officeDocument/2006/relationships/font" Target="fonts/DMSans-italic.fntdata"/><Relationship Id="rId19" Type="http://schemas.openxmlformats.org/officeDocument/2006/relationships/font" Target="fonts/DMSansMedium-bold.fntdata"/><Relationship Id="rId18" Type="http://schemas.openxmlformats.org/officeDocument/2006/relationships/font" Target="fonts/DMSansMedium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8b9b130855_2_7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8b9b130855_2_7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8b9b130855_44_0)">
  <p:cSld name="Generated (g38b9b130855_44_0)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1.png"/><Relationship Id="rId6" Type="http://schemas.openxmlformats.org/officeDocument/2006/relationships/image" Target="../media/image8.png"/><Relationship Id="rId7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10.png"/><Relationship Id="rId10" Type="http://schemas.openxmlformats.org/officeDocument/2006/relationships/image" Target="../media/image12.png"/><Relationship Id="rId1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2.png"/><Relationship Id="rId8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14.png"/><Relationship Id="rId6" Type="http://schemas.openxmlformats.org/officeDocument/2006/relationships/image" Target="../media/image8.png"/><Relationship Id="rId7" Type="http://schemas.openxmlformats.org/officeDocument/2006/relationships/image" Target="../media/image26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17.png"/><Relationship Id="rId10" Type="http://schemas.openxmlformats.org/officeDocument/2006/relationships/image" Target="../media/image18.png"/><Relationship Id="rId13" Type="http://schemas.openxmlformats.org/officeDocument/2006/relationships/image" Target="../media/image19.png"/><Relationship Id="rId1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4.png"/><Relationship Id="rId9" Type="http://schemas.openxmlformats.org/officeDocument/2006/relationships/image" Target="../media/image23.png"/><Relationship Id="rId15" Type="http://schemas.openxmlformats.org/officeDocument/2006/relationships/image" Target="../media/image21.png"/><Relationship Id="rId14" Type="http://schemas.openxmlformats.org/officeDocument/2006/relationships/image" Target="../media/image22.png"/><Relationship Id="rId5" Type="http://schemas.openxmlformats.org/officeDocument/2006/relationships/image" Target="../media/image25.png"/><Relationship Id="rId6" Type="http://schemas.openxmlformats.org/officeDocument/2006/relationships/image" Target="../media/image20.png"/><Relationship Id="rId7" Type="http://schemas.openxmlformats.org/officeDocument/2006/relationships/image" Target="../media/image28.png"/><Relationship Id="rId8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20" Type="http://schemas.openxmlformats.org/officeDocument/2006/relationships/image" Target="../media/image35.png"/><Relationship Id="rId11" Type="http://schemas.openxmlformats.org/officeDocument/2006/relationships/image" Target="../media/image58.png"/><Relationship Id="rId10" Type="http://schemas.openxmlformats.org/officeDocument/2006/relationships/image" Target="../media/image32.png"/><Relationship Id="rId13" Type="http://schemas.openxmlformats.org/officeDocument/2006/relationships/image" Target="../media/image29.png"/><Relationship Id="rId1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4.png"/><Relationship Id="rId9" Type="http://schemas.openxmlformats.org/officeDocument/2006/relationships/image" Target="../media/image33.png"/><Relationship Id="rId15" Type="http://schemas.openxmlformats.org/officeDocument/2006/relationships/image" Target="../media/image34.png"/><Relationship Id="rId14" Type="http://schemas.openxmlformats.org/officeDocument/2006/relationships/image" Target="../media/image40.png"/><Relationship Id="rId17" Type="http://schemas.openxmlformats.org/officeDocument/2006/relationships/image" Target="../media/image31.png"/><Relationship Id="rId16" Type="http://schemas.openxmlformats.org/officeDocument/2006/relationships/image" Target="../media/image37.png"/><Relationship Id="rId5" Type="http://schemas.openxmlformats.org/officeDocument/2006/relationships/image" Target="../media/image25.png"/><Relationship Id="rId19" Type="http://schemas.openxmlformats.org/officeDocument/2006/relationships/image" Target="../media/image46.png"/><Relationship Id="rId6" Type="http://schemas.openxmlformats.org/officeDocument/2006/relationships/image" Target="../media/image20.png"/><Relationship Id="rId18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44.png"/><Relationship Id="rId10" Type="http://schemas.openxmlformats.org/officeDocument/2006/relationships/image" Target="../media/image41.png"/><Relationship Id="rId13" Type="http://schemas.openxmlformats.org/officeDocument/2006/relationships/image" Target="../media/image50.png"/><Relationship Id="rId12" Type="http://schemas.openxmlformats.org/officeDocument/2006/relationships/image" Target="../media/image4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45.png"/><Relationship Id="rId9" Type="http://schemas.openxmlformats.org/officeDocument/2006/relationships/image" Target="../media/image8.png"/><Relationship Id="rId15" Type="http://schemas.openxmlformats.org/officeDocument/2006/relationships/image" Target="../media/image42.png"/><Relationship Id="rId14" Type="http://schemas.openxmlformats.org/officeDocument/2006/relationships/image" Target="../media/image52.png"/><Relationship Id="rId5" Type="http://schemas.openxmlformats.org/officeDocument/2006/relationships/image" Target="../media/image39.png"/><Relationship Id="rId6" Type="http://schemas.openxmlformats.org/officeDocument/2006/relationships/image" Target="../media/image38.png"/><Relationship Id="rId7" Type="http://schemas.openxmlformats.org/officeDocument/2006/relationships/image" Target="../media/image36.png"/><Relationship Id="rId8" Type="http://schemas.openxmlformats.org/officeDocument/2006/relationships/image" Target="../media/image4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54.png"/><Relationship Id="rId5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51.png"/><Relationship Id="rId9" Type="http://schemas.openxmlformats.org/officeDocument/2006/relationships/image" Target="../media/image49.png"/><Relationship Id="rId5" Type="http://schemas.openxmlformats.org/officeDocument/2006/relationships/image" Target="../media/image56.png"/><Relationship Id="rId6" Type="http://schemas.openxmlformats.org/officeDocument/2006/relationships/image" Target="../media/image8.png"/><Relationship Id="rId7" Type="http://schemas.openxmlformats.org/officeDocument/2006/relationships/image" Target="../media/image55.png"/><Relationship Id="rId8" Type="http://schemas.openxmlformats.org/officeDocument/2006/relationships/image" Target="../media/image4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5" name="Google Shape;8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6362700"/>
            <a:ext cx="112395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476250" y="6467475"/>
            <a:ext cx="27717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37082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System Architecture &amp; Engineering Foundation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11264089" y="6413432"/>
            <a:ext cx="4383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37082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Slide </a:t>
            </a:r>
            <a:r>
              <a:rPr lang="en-US" sz="975">
                <a:solidFill>
                  <a:srgbClr val="637082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1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795337" y="2513855"/>
            <a:ext cx="10601325" cy="12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0B1220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Digital Banking Account &amp; Transaction Management System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2000250" y="3982194"/>
            <a:ext cx="8191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Core Banking &amp; Transaction Management Engine · Advanced JavaScript Backend Frameworks (Node.js &amp; Express.js)</a:t>
            </a:r>
            <a:endParaRPr/>
          </a:p>
        </p:txBody>
      </p:sp>
      <p:sp>
        <p:nvSpPr>
          <p:cNvPr id="91" name="Google Shape;91;p1"/>
          <p:cNvSpPr/>
          <p:nvPr/>
        </p:nvSpPr>
        <p:spPr>
          <a:xfrm>
            <a:off x="4157662" y="2182862"/>
            <a:ext cx="714375" cy="14287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5043487" y="2094755"/>
            <a:ext cx="21050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8C631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PROBLEM STATEMENT</a:t>
            </a:r>
            <a:endParaRPr/>
          </a:p>
        </p:txBody>
      </p:sp>
      <p:sp>
        <p:nvSpPr>
          <p:cNvPr id="93" name="Google Shape;93;p1"/>
          <p:cNvSpPr/>
          <p:nvPr/>
        </p:nvSpPr>
        <p:spPr>
          <a:xfrm>
            <a:off x="7319962" y="2182862"/>
            <a:ext cx="714375" cy="14287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" name="Google Shape;9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4542829"/>
            <a:ext cx="11239500" cy="803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250" y="2067520"/>
            <a:ext cx="5524500" cy="10852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2067520"/>
            <a:ext cx="5524500" cy="10852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250" y="3305175"/>
            <a:ext cx="5524500" cy="10852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3305175"/>
            <a:ext cx="5524500" cy="10852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50" y="6362700"/>
            <a:ext cx="112395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"/>
          <p:cNvSpPr txBox="1"/>
          <p:nvPr/>
        </p:nvSpPr>
        <p:spPr>
          <a:xfrm>
            <a:off x="476250" y="6467475"/>
            <a:ext cx="26574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37082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Architectural Problem &amp; Engineering Solution</a:t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11239500" y="6467475"/>
            <a:ext cx="4762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37082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Slide 02</a:t>
            </a:r>
            <a:endParaRPr/>
          </a:p>
        </p:txBody>
      </p:sp>
      <p:pic>
        <p:nvPicPr>
          <p:cNvPr descr="image.png" id="107" name="Google Shape;107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2475" y="4816078"/>
            <a:ext cx="12573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"/>
          <p:cNvSpPr txBox="1"/>
          <p:nvPr/>
        </p:nvSpPr>
        <p:spPr>
          <a:xfrm>
            <a:off x="2238375" y="4723804"/>
            <a:ext cx="9239250" cy="441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A secure, double-entry style core banking backend engineered with atomic validation, strict account state machines, automated AML triggers, and multi-tier RBAC.</a:t>
            </a:r>
            <a:endParaRPr/>
          </a:p>
        </p:txBody>
      </p:sp>
      <p:sp>
        <p:nvSpPr>
          <p:cNvPr id="109" name="Google Shape;109;p2"/>
          <p:cNvSpPr txBox="1"/>
          <p:nvPr/>
        </p:nvSpPr>
        <p:spPr>
          <a:xfrm>
            <a:off x="704850" y="2229445"/>
            <a:ext cx="50958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B1220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Concurrency &amp; Race Conditions</a:t>
            </a:r>
            <a:r>
              <a:rPr b="0" i="0" lang="en-US" sz="1200" u="none" cap="none" strike="noStrike">
                <a:solidFill>
                  <a:srgbClr val="1A223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i="0" lang="en-US" sz="1200" u="none" cap="none" strike="noStrike">
                <a:solidFill>
                  <a:srgbClr val="8C6319"/>
                </a:solidFill>
                <a:latin typeface="DM Sans"/>
                <a:ea typeface="DM Sans"/>
                <a:cs typeface="DM Sans"/>
                <a:sym typeface="DM Sans"/>
              </a:rPr>
              <a:t>CHALLENGE 01</a:t>
            </a:r>
            <a:endParaRPr/>
          </a:p>
        </p:txBody>
      </p:sp>
      <p:sp>
        <p:nvSpPr>
          <p:cNvPr id="110" name="Google Shape;110;p2"/>
          <p:cNvSpPr txBox="1"/>
          <p:nvPr/>
        </p:nvSpPr>
        <p:spPr>
          <a:xfrm>
            <a:off x="704850" y="2562820"/>
            <a:ext cx="5095875" cy="428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2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Inter-account fund transfers risk double-spending or dirty reads if dual-account mutations are not handled atomically.</a:t>
            </a:r>
            <a:endParaRPr/>
          </a:p>
        </p:txBody>
      </p:sp>
      <p:sp>
        <p:nvSpPr>
          <p:cNvPr id="111" name="Google Shape;111;p2"/>
          <p:cNvSpPr txBox="1"/>
          <p:nvPr/>
        </p:nvSpPr>
        <p:spPr>
          <a:xfrm>
            <a:off x="6419850" y="2229445"/>
            <a:ext cx="50958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B1220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Absence of Point-in-Time Auditability</a:t>
            </a:r>
            <a:r>
              <a:rPr b="0" i="0" lang="en-US" sz="1200" u="none" cap="none" strike="noStrike">
                <a:solidFill>
                  <a:srgbClr val="1A223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i="0" lang="en-US" sz="1200" u="none" cap="none" strike="noStrike">
                <a:solidFill>
                  <a:srgbClr val="8C6319"/>
                </a:solidFill>
                <a:latin typeface="DM Sans"/>
                <a:ea typeface="DM Sans"/>
                <a:cs typeface="DM Sans"/>
                <a:sym typeface="DM Sans"/>
              </a:rPr>
              <a:t>CHALLENGE 02</a:t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6419850" y="2562820"/>
            <a:ext cx="5095875" cy="428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2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Typical systems overwrite balance columns without preserving an immutable ledger with running historical balances.</a:t>
            </a:r>
            <a:endParaRPr/>
          </a:p>
        </p:txBody>
      </p:sp>
      <p:sp>
        <p:nvSpPr>
          <p:cNvPr id="113" name="Google Shape;113;p2"/>
          <p:cNvSpPr txBox="1"/>
          <p:nvPr/>
        </p:nvSpPr>
        <p:spPr>
          <a:xfrm>
            <a:off x="704850" y="3467100"/>
            <a:ext cx="50958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B1220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Weak Governance &amp; Role Segregation</a:t>
            </a:r>
            <a:r>
              <a:rPr b="0" i="0" lang="en-US" sz="1200" u="none" cap="none" strike="noStrike">
                <a:solidFill>
                  <a:srgbClr val="1A223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i="0" lang="en-US" sz="1200" u="none" cap="none" strike="noStrike">
                <a:solidFill>
                  <a:srgbClr val="8C6319"/>
                </a:solidFill>
                <a:latin typeface="DM Sans"/>
                <a:ea typeface="DM Sans"/>
                <a:cs typeface="DM Sans"/>
                <a:sym typeface="DM Sans"/>
              </a:rPr>
              <a:t>CHALLENGE 03</a:t>
            </a:r>
            <a:endParaRPr/>
          </a:p>
        </p:txBody>
      </p:sp>
      <p:sp>
        <p:nvSpPr>
          <p:cNvPr id="114" name="Google Shape;114;p2"/>
          <p:cNvSpPr txBox="1"/>
          <p:nvPr/>
        </p:nvSpPr>
        <p:spPr>
          <a:xfrm>
            <a:off x="704850" y="3800475"/>
            <a:ext cx="5095875" cy="428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2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Mixing retail customer actions with compliance enforcement leads to security oversights and unauthorized status changes.</a:t>
            </a:r>
            <a:endParaRPr/>
          </a:p>
        </p:txBody>
      </p:sp>
      <p:sp>
        <p:nvSpPr>
          <p:cNvPr id="115" name="Google Shape;115;p2"/>
          <p:cNvSpPr txBox="1"/>
          <p:nvPr/>
        </p:nvSpPr>
        <p:spPr>
          <a:xfrm>
            <a:off x="6419850" y="3467100"/>
            <a:ext cx="50958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B1220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Unchecked Large Capital Outflows</a:t>
            </a:r>
            <a:r>
              <a:rPr b="0" i="0" lang="en-US" sz="1200" u="none" cap="none" strike="noStrike">
                <a:solidFill>
                  <a:srgbClr val="1A223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i="0" lang="en-US" sz="1200" u="none" cap="none" strike="noStrike">
                <a:solidFill>
                  <a:srgbClr val="8C6319"/>
                </a:solidFill>
                <a:latin typeface="DM Sans"/>
                <a:ea typeface="DM Sans"/>
                <a:cs typeface="DM Sans"/>
                <a:sym typeface="DM Sans"/>
              </a:rPr>
              <a:t>CHALLENGE 04</a:t>
            </a:r>
            <a:endParaRPr/>
          </a:p>
        </p:txBody>
      </p:sp>
      <p:sp>
        <p:nvSpPr>
          <p:cNvPr id="116" name="Google Shape;116;p2"/>
          <p:cNvSpPr txBox="1"/>
          <p:nvPr/>
        </p:nvSpPr>
        <p:spPr>
          <a:xfrm>
            <a:off x="6419850" y="3800475"/>
            <a:ext cx="5095875" cy="428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2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Lack of automated AML (Anti-Money Laundering) detection fails to flag rapid, high-value transfers for staff intervention.</a:t>
            </a:r>
            <a:endParaRPr/>
          </a:p>
        </p:txBody>
      </p:sp>
      <p:sp>
        <p:nvSpPr>
          <p:cNvPr id="117" name="Google Shape;117;p2"/>
          <p:cNvSpPr txBox="1"/>
          <p:nvPr/>
        </p:nvSpPr>
        <p:spPr>
          <a:xfrm>
            <a:off x="476250" y="285750"/>
            <a:ext cx="11239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C6319"/>
                </a:solidFill>
                <a:latin typeface="DM Sans"/>
                <a:ea typeface="DM Sans"/>
                <a:cs typeface="DM Sans"/>
                <a:sym typeface="DM Sans"/>
              </a:rPr>
              <a:t>01 — PROBLEM STATEMENT</a:t>
            </a:r>
            <a:r>
              <a:rPr b="0" i="0" lang="en-US" sz="1200" u="none" cap="none" strike="noStrike">
                <a:solidFill>
                  <a:srgbClr val="1A223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/>
          </a:p>
        </p:txBody>
      </p:sp>
      <p:sp>
        <p:nvSpPr>
          <p:cNvPr id="118" name="Google Shape;118;p2"/>
          <p:cNvSpPr txBox="1"/>
          <p:nvPr/>
        </p:nvSpPr>
        <p:spPr>
          <a:xfrm>
            <a:off x="476250" y="622849"/>
            <a:ext cx="11715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B1220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Problem Statement &amp; Challenges in Core Banking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3" name="Google Shape;12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1882080"/>
            <a:ext cx="3619500" cy="17487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0" y="1882080"/>
            <a:ext cx="3619500" cy="17487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96250" y="1882080"/>
            <a:ext cx="3619500" cy="17487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250" y="3783210"/>
            <a:ext cx="3619500" cy="17487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86250" y="3783210"/>
            <a:ext cx="3619500" cy="17487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250" y="3783210"/>
            <a:ext cx="3619500" cy="17487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50" y="6362700"/>
            <a:ext cx="112395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3"/>
          <p:cNvSpPr txBox="1"/>
          <p:nvPr/>
        </p:nvSpPr>
        <p:spPr>
          <a:xfrm>
            <a:off x="476250" y="6467475"/>
            <a:ext cx="17907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37082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System Functional Boundaries</a:t>
            </a:r>
            <a:endParaRPr/>
          </a:p>
        </p:txBody>
      </p:sp>
      <p:sp>
        <p:nvSpPr>
          <p:cNvPr id="132" name="Google Shape;132;p3"/>
          <p:cNvSpPr txBox="1"/>
          <p:nvPr/>
        </p:nvSpPr>
        <p:spPr>
          <a:xfrm>
            <a:off x="11239500" y="6467475"/>
            <a:ext cx="4762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37082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Slide 03</a:t>
            </a:r>
            <a:endParaRPr/>
          </a:p>
        </p:txBody>
      </p:sp>
      <p:sp>
        <p:nvSpPr>
          <p:cNvPr id="133" name="Google Shape;133;p3"/>
          <p:cNvSpPr txBox="1"/>
          <p:nvPr/>
        </p:nvSpPr>
        <p:spPr>
          <a:xfrm>
            <a:off x="676275" y="2082105"/>
            <a:ext cx="32194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C6319"/>
                </a:solidFill>
                <a:latin typeface="DM Sans"/>
                <a:ea typeface="DM Sans"/>
                <a:cs typeface="DM Sans"/>
                <a:sym typeface="DM Sans"/>
              </a:rPr>
              <a:t>OBJECTIVE 01</a:t>
            </a:r>
            <a:endParaRPr/>
          </a:p>
        </p:txBody>
      </p:sp>
      <p:sp>
        <p:nvSpPr>
          <p:cNvPr id="134" name="Google Shape;134;p3"/>
          <p:cNvSpPr txBox="1"/>
          <p:nvPr/>
        </p:nvSpPr>
        <p:spPr>
          <a:xfrm>
            <a:off x="676275" y="2301180"/>
            <a:ext cx="3380422" cy="262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5" u="none" cap="none" strike="noStrike">
                <a:solidFill>
                  <a:srgbClr val="0B1220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Atomic Fund Transfer Engine</a:t>
            </a:r>
            <a:endParaRPr/>
          </a:p>
        </p:txBody>
      </p:sp>
      <p:sp>
        <p:nvSpPr>
          <p:cNvPr id="135" name="Google Shape;135;p3"/>
          <p:cNvSpPr txBox="1"/>
          <p:nvPr/>
        </p:nvSpPr>
        <p:spPr>
          <a:xfrm>
            <a:off x="676275" y="2621160"/>
            <a:ext cx="3219450" cy="621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Eliminate double-spending through rigorous balance and daily limit checks prior to dual balance mutation.</a:t>
            </a:r>
            <a:endParaRPr/>
          </a:p>
        </p:txBody>
      </p:sp>
      <p:sp>
        <p:nvSpPr>
          <p:cNvPr id="136" name="Google Shape;136;p3"/>
          <p:cNvSpPr txBox="1"/>
          <p:nvPr/>
        </p:nvSpPr>
        <p:spPr>
          <a:xfrm>
            <a:off x="4486275" y="2082105"/>
            <a:ext cx="32194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C6319"/>
                </a:solidFill>
                <a:latin typeface="DM Sans"/>
                <a:ea typeface="DM Sans"/>
                <a:cs typeface="DM Sans"/>
                <a:sym typeface="DM Sans"/>
              </a:rPr>
              <a:t>OBJECTIVE 02</a:t>
            </a:r>
            <a:endParaRPr/>
          </a:p>
        </p:txBody>
      </p:sp>
      <p:sp>
        <p:nvSpPr>
          <p:cNvPr id="137" name="Google Shape;137;p3"/>
          <p:cNvSpPr txBox="1"/>
          <p:nvPr/>
        </p:nvSpPr>
        <p:spPr>
          <a:xfrm>
            <a:off x="4486275" y="2301180"/>
            <a:ext cx="3380422" cy="262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5" u="none" cap="none" strike="noStrike">
                <a:solidFill>
                  <a:srgbClr val="0B1220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Double-Entry Ledger Accounting</a:t>
            </a:r>
            <a:endParaRPr/>
          </a:p>
        </p:txBody>
      </p:sp>
      <p:sp>
        <p:nvSpPr>
          <p:cNvPr id="138" name="Google Shape;138;p3"/>
          <p:cNvSpPr txBox="1"/>
          <p:nvPr/>
        </p:nvSpPr>
        <p:spPr>
          <a:xfrm>
            <a:off x="4486275" y="2621160"/>
            <a:ext cx="3219450" cy="621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Maintain append-only transaction records storing running on every debit and credit.</a:t>
            </a:r>
            <a:endParaRPr/>
          </a:p>
        </p:txBody>
      </p:sp>
      <p:sp>
        <p:nvSpPr>
          <p:cNvPr id="139" name="Google Shape;139;p3"/>
          <p:cNvSpPr txBox="1"/>
          <p:nvPr/>
        </p:nvSpPr>
        <p:spPr>
          <a:xfrm>
            <a:off x="8296275" y="2082105"/>
            <a:ext cx="32194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C6319"/>
                </a:solidFill>
                <a:latin typeface="DM Sans"/>
                <a:ea typeface="DM Sans"/>
                <a:cs typeface="DM Sans"/>
                <a:sym typeface="DM Sans"/>
              </a:rPr>
              <a:t>OBJECTIVE 03</a:t>
            </a:r>
            <a:endParaRPr/>
          </a:p>
        </p:txBody>
      </p:sp>
      <p:sp>
        <p:nvSpPr>
          <p:cNvPr id="140" name="Google Shape;140;p3"/>
          <p:cNvSpPr txBox="1"/>
          <p:nvPr/>
        </p:nvSpPr>
        <p:spPr>
          <a:xfrm>
            <a:off x="8296275" y="2301180"/>
            <a:ext cx="3380422" cy="262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5" u="none" cap="none" strike="noStrike">
                <a:solidFill>
                  <a:srgbClr val="0B1220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Granular 3-Tier RBAC</a:t>
            </a:r>
            <a:endParaRPr/>
          </a:p>
        </p:txBody>
      </p:sp>
      <p:sp>
        <p:nvSpPr>
          <p:cNvPr id="141" name="Google Shape;141;p3"/>
          <p:cNvSpPr txBox="1"/>
          <p:nvPr/>
        </p:nvSpPr>
        <p:spPr>
          <a:xfrm>
            <a:off x="8296275" y="2621160"/>
            <a:ext cx="3219600" cy="4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Implement JWT bearer token authorization enforcing distinct boundaries</a:t>
            </a:r>
            <a:endParaRPr/>
          </a:p>
        </p:txBody>
      </p:sp>
      <p:sp>
        <p:nvSpPr>
          <p:cNvPr id="142" name="Google Shape;142;p3"/>
          <p:cNvSpPr txBox="1"/>
          <p:nvPr/>
        </p:nvSpPr>
        <p:spPr>
          <a:xfrm>
            <a:off x="676275" y="3983235"/>
            <a:ext cx="32194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C6319"/>
                </a:solidFill>
                <a:latin typeface="DM Sans"/>
                <a:ea typeface="DM Sans"/>
                <a:cs typeface="DM Sans"/>
                <a:sym typeface="DM Sans"/>
              </a:rPr>
              <a:t>OBJECTIVE 04</a:t>
            </a:r>
            <a:endParaRPr/>
          </a:p>
        </p:txBody>
      </p:sp>
      <p:sp>
        <p:nvSpPr>
          <p:cNvPr id="143" name="Google Shape;143;p3"/>
          <p:cNvSpPr txBox="1"/>
          <p:nvPr/>
        </p:nvSpPr>
        <p:spPr>
          <a:xfrm>
            <a:off x="676275" y="4202310"/>
            <a:ext cx="3380422" cy="262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5" u="none" cap="none" strike="noStrike">
                <a:solidFill>
                  <a:srgbClr val="0B1220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Automated AML Monitoring</a:t>
            </a:r>
            <a:endParaRPr/>
          </a:p>
        </p:txBody>
      </p:sp>
      <p:sp>
        <p:nvSpPr>
          <p:cNvPr id="144" name="Google Shape;144;p3"/>
          <p:cNvSpPr txBox="1"/>
          <p:nvPr/>
        </p:nvSpPr>
        <p:spPr>
          <a:xfrm>
            <a:off x="676275" y="4522291"/>
            <a:ext cx="3219450" cy="621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Automatically intercept and flag transactions ≥ ₹50,000 for compliance review and audit escalation.</a:t>
            </a:r>
            <a:endParaRPr/>
          </a:p>
        </p:txBody>
      </p:sp>
      <p:sp>
        <p:nvSpPr>
          <p:cNvPr id="145" name="Google Shape;145;p3"/>
          <p:cNvSpPr txBox="1"/>
          <p:nvPr/>
        </p:nvSpPr>
        <p:spPr>
          <a:xfrm>
            <a:off x="4486275" y="3983235"/>
            <a:ext cx="32194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C6319"/>
                </a:solidFill>
                <a:latin typeface="DM Sans"/>
                <a:ea typeface="DM Sans"/>
                <a:cs typeface="DM Sans"/>
                <a:sym typeface="DM Sans"/>
              </a:rPr>
              <a:t>OBJECTIVE 05</a:t>
            </a:r>
            <a:endParaRPr/>
          </a:p>
        </p:txBody>
      </p:sp>
      <p:sp>
        <p:nvSpPr>
          <p:cNvPr id="146" name="Google Shape;146;p3"/>
          <p:cNvSpPr txBox="1"/>
          <p:nvPr/>
        </p:nvSpPr>
        <p:spPr>
          <a:xfrm>
            <a:off x="4486275" y="4202310"/>
            <a:ext cx="3380422" cy="262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5" u="none" cap="none" strike="noStrike">
                <a:solidFill>
                  <a:srgbClr val="0B1220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Operational Workflow Lifecycle</a:t>
            </a:r>
            <a:endParaRPr/>
          </a:p>
        </p:txBody>
      </p:sp>
      <p:sp>
        <p:nvSpPr>
          <p:cNvPr id="147" name="Google Shape;147;p3"/>
          <p:cNvSpPr txBox="1"/>
          <p:nvPr/>
        </p:nvSpPr>
        <p:spPr>
          <a:xfrm>
            <a:off x="4486275" y="4522291"/>
            <a:ext cx="3219450" cy="621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Provide bank staff with real-time approval queues, account freeze/unfreeze mechanisms, and audit logs.</a:t>
            </a:r>
            <a:endParaRPr/>
          </a:p>
        </p:txBody>
      </p:sp>
      <p:sp>
        <p:nvSpPr>
          <p:cNvPr id="148" name="Google Shape;148;p3"/>
          <p:cNvSpPr txBox="1"/>
          <p:nvPr/>
        </p:nvSpPr>
        <p:spPr>
          <a:xfrm>
            <a:off x="8296275" y="3983235"/>
            <a:ext cx="32194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C6319"/>
                </a:solidFill>
                <a:latin typeface="DM Sans"/>
                <a:ea typeface="DM Sans"/>
                <a:cs typeface="DM Sans"/>
                <a:sym typeface="DM Sans"/>
              </a:rPr>
              <a:t>OBJECTIVE 06</a:t>
            </a:r>
            <a:endParaRPr/>
          </a:p>
        </p:txBody>
      </p:sp>
      <p:sp>
        <p:nvSpPr>
          <p:cNvPr id="149" name="Google Shape;149;p3"/>
          <p:cNvSpPr txBox="1"/>
          <p:nvPr/>
        </p:nvSpPr>
        <p:spPr>
          <a:xfrm>
            <a:off x="8296275" y="4202310"/>
            <a:ext cx="3380422" cy="262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5" u="none" cap="none" strike="noStrike">
                <a:solidFill>
                  <a:srgbClr val="0B1220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Interactive Executive Interface</a:t>
            </a:r>
            <a:endParaRPr/>
          </a:p>
        </p:txBody>
      </p:sp>
      <p:sp>
        <p:nvSpPr>
          <p:cNvPr id="150" name="Google Shape;150;p3"/>
          <p:cNvSpPr txBox="1"/>
          <p:nvPr/>
        </p:nvSpPr>
        <p:spPr>
          <a:xfrm>
            <a:off x="8296275" y="4522291"/>
            <a:ext cx="3219450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Provide a responsive web portal styled in a bespoke Cream &amp; Champagne Gold aesthetic with classic EB Garamond typography for viva evaluations.</a:t>
            </a:r>
            <a:endParaRPr/>
          </a:p>
        </p:txBody>
      </p:sp>
      <p:pic>
        <p:nvPicPr>
          <p:cNvPr descr="image.png" id="151" name="Google Shape;151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743325" y="2086867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572375" y="2086867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325225" y="2086867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743325" y="3987998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591425" y="3987998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363325" y="3987998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3"/>
          <p:cNvSpPr txBox="1"/>
          <p:nvPr/>
        </p:nvSpPr>
        <p:spPr>
          <a:xfrm>
            <a:off x="476250" y="285750"/>
            <a:ext cx="11239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C6319"/>
                </a:solidFill>
                <a:latin typeface="DM Sans"/>
                <a:ea typeface="DM Sans"/>
                <a:cs typeface="DM Sans"/>
                <a:sym typeface="DM Sans"/>
              </a:rPr>
              <a:t>02 — OBJECTIVES &amp; SCOPE</a:t>
            </a:r>
            <a:r>
              <a:rPr b="0" i="0" lang="en-US" sz="1200" u="none" cap="none" strike="noStrike">
                <a:solidFill>
                  <a:srgbClr val="1A223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/>
          </a:p>
        </p:txBody>
      </p:sp>
      <p:sp>
        <p:nvSpPr>
          <p:cNvPr id="158" name="Google Shape;158;p3"/>
          <p:cNvSpPr txBox="1"/>
          <p:nvPr/>
        </p:nvSpPr>
        <p:spPr>
          <a:xfrm>
            <a:off x="476250" y="636248"/>
            <a:ext cx="11715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B1220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Objectives &amp; System Scope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6362700"/>
            <a:ext cx="112395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4"/>
          <p:cNvSpPr txBox="1"/>
          <p:nvPr/>
        </p:nvSpPr>
        <p:spPr>
          <a:xfrm>
            <a:off x="476250" y="6467475"/>
            <a:ext cx="18669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37082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Layered Boundary Enforcement</a:t>
            </a:r>
            <a:endParaRPr/>
          </a:p>
        </p:txBody>
      </p:sp>
      <p:sp>
        <p:nvSpPr>
          <p:cNvPr id="166" name="Google Shape;166;p4"/>
          <p:cNvSpPr txBox="1"/>
          <p:nvPr/>
        </p:nvSpPr>
        <p:spPr>
          <a:xfrm>
            <a:off x="11239500" y="6467475"/>
            <a:ext cx="4764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37082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Slide 04</a:t>
            </a:r>
            <a:endParaRPr/>
          </a:p>
        </p:txBody>
      </p:sp>
      <p:sp>
        <p:nvSpPr>
          <p:cNvPr id="167" name="Google Shape;167;p4"/>
          <p:cNvSpPr txBox="1"/>
          <p:nvPr/>
        </p:nvSpPr>
        <p:spPr>
          <a:xfrm>
            <a:off x="714375" y="1621035"/>
            <a:ext cx="11477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0BE75"/>
                </a:solidFill>
                <a:latin typeface="DM Sans"/>
                <a:ea typeface="DM Sans"/>
                <a:cs typeface="DM Sans"/>
                <a:sym typeface="DM Sans"/>
              </a:rPr>
              <a:t>PIPELINE SEQUENCE (MVC + LAYERED GUARDS)</a:t>
            </a:r>
            <a:r>
              <a:rPr b="0" i="0" lang="en-US" sz="1200" u="none" cap="none" strike="noStrike">
                <a:solidFill>
                  <a:srgbClr val="1A223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i="0" lang="en-US" sz="120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NODE.JS &amp; EXPRESS.JS</a:t>
            </a:r>
            <a:endParaRPr/>
          </a:p>
        </p:txBody>
      </p:sp>
      <p:grpSp>
        <p:nvGrpSpPr>
          <p:cNvPr id="168" name="Google Shape;168;p4"/>
          <p:cNvGrpSpPr/>
          <p:nvPr/>
        </p:nvGrpSpPr>
        <p:grpSpPr>
          <a:xfrm>
            <a:off x="476250" y="1428750"/>
            <a:ext cx="11239500" cy="4667400"/>
            <a:chOff x="476250" y="1428750"/>
            <a:chExt cx="11239500" cy="4667400"/>
          </a:xfrm>
        </p:grpSpPr>
        <p:sp>
          <p:nvSpPr>
            <p:cNvPr id="169" name="Google Shape;169;p4"/>
            <p:cNvSpPr/>
            <p:nvPr/>
          </p:nvSpPr>
          <p:spPr>
            <a:xfrm>
              <a:off x="476250" y="1428750"/>
              <a:ext cx="7334400" cy="4667400"/>
            </a:xfrm>
            <a:prstGeom prst="roundRect">
              <a:avLst>
                <a:gd fmla="val 1632" name="adj"/>
              </a:avLst>
            </a:prstGeom>
            <a:solidFill>
              <a:srgbClr val="0B122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4"/>
            <p:cNvSpPr/>
            <p:nvPr/>
          </p:nvSpPr>
          <p:spPr>
            <a:xfrm>
              <a:off x="8096250" y="1428750"/>
              <a:ext cx="3619500" cy="4667400"/>
            </a:xfrm>
            <a:prstGeom prst="roundRect">
              <a:avLst>
                <a:gd fmla="val 2105" name="adj"/>
              </a:avLst>
            </a:prstGeom>
            <a:solidFill>
              <a:srgbClr val="F8F6F0"/>
            </a:solidFill>
            <a:ln cap="flat" cmpd="sng" w="9525">
              <a:solidFill>
                <a:srgbClr val="E0BE7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4"/>
            <p:cNvSpPr txBox="1"/>
            <p:nvPr/>
          </p:nvSpPr>
          <p:spPr>
            <a:xfrm>
              <a:off x="476250" y="1428750"/>
              <a:ext cx="7334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238125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E0BE75"/>
                  </a:solidFill>
                  <a:latin typeface="DM Sans"/>
                  <a:ea typeface="DM Sans"/>
                  <a:cs typeface="DM Sans"/>
                  <a:sym typeface="DM Sans"/>
                </a:rPr>
                <a:t>PIPELINE SEQUENCE (MVC + LAYERED GUARDS) </a:t>
              </a:r>
              <a:r>
                <a:rPr b="1" lang="en-US" sz="1100">
                  <a:solidFill>
                    <a:srgbClr val="94A3B8"/>
                  </a:solidFill>
                  <a:latin typeface="DM Sans"/>
                  <a:ea typeface="DM Sans"/>
                  <a:cs typeface="DM Sans"/>
                  <a:sym typeface="DM Sans"/>
                </a:rPr>
                <a:t>NODE.JS &amp; EXPRESS.JS</a:t>
              </a:r>
              <a:endParaRPr b="1" sz="1100">
                <a:solidFill>
                  <a:srgbClr val="E0BE75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cxnSp>
          <p:nvCxnSpPr>
            <p:cNvPr id="172" name="Google Shape;172;p4"/>
            <p:cNvCxnSpPr/>
            <p:nvPr/>
          </p:nvCxnSpPr>
          <p:spPr>
            <a:xfrm>
              <a:off x="714375" y="1905000"/>
              <a:ext cx="6858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2E384D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73" name="Google Shape;173;p4"/>
            <p:cNvGrpSpPr/>
            <p:nvPr/>
          </p:nvGrpSpPr>
          <p:grpSpPr>
            <a:xfrm>
              <a:off x="714375" y="2047875"/>
              <a:ext cx="3190800" cy="1095300"/>
              <a:chOff x="0" y="0"/>
              <a:chExt cx="3190800" cy="1095300"/>
            </a:xfrm>
          </p:grpSpPr>
          <p:sp>
            <p:nvSpPr>
              <p:cNvPr id="174" name="Google Shape;174;p4"/>
              <p:cNvSpPr/>
              <p:nvPr/>
            </p:nvSpPr>
            <p:spPr>
              <a:xfrm>
                <a:off x="0" y="0"/>
                <a:ext cx="3190800" cy="1095300"/>
              </a:xfrm>
              <a:prstGeom prst="roundRect">
                <a:avLst>
                  <a:gd fmla="val 5217" name="adj"/>
                </a:avLst>
              </a:prstGeom>
              <a:solidFill>
                <a:srgbClr val="151D30"/>
              </a:solidFill>
              <a:ln cap="flat" cmpd="sng" w="9525">
                <a:solidFill>
                  <a:srgbClr val="E0BE7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" name="Google Shape;175;p4"/>
              <p:cNvSpPr txBox="1"/>
              <p:nvPr/>
            </p:nvSpPr>
            <p:spPr>
              <a:xfrm>
                <a:off x="142875" y="114300"/>
                <a:ext cx="29052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50">
                    <a:solidFill>
                      <a:srgbClr val="E0BE75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01. REQUEST ENTRY</a:t>
                </a:r>
                <a:endParaRPr b="1" sz="950">
                  <a:solidFill>
                    <a:srgbClr val="E0BE75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rgbClr val="E2E8F0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HTTP Request initiated via Client Portal, Hoppscotch, or Postman client.</a:t>
                </a:r>
                <a:endParaRPr sz="1000">
                  <a:solidFill>
                    <a:srgbClr val="E2E8F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176" name="Google Shape;176;p4"/>
            <p:cNvGrpSpPr/>
            <p:nvPr/>
          </p:nvGrpSpPr>
          <p:grpSpPr>
            <a:xfrm>
              <a:off x="4191000" y="2047875"/>
              <a:ext cx="3381300" cy="1095300"/>
              <a:chOff x="0" y="0"/>
              <a:chExt cx="3381300" cy="1095300"/>
            </a:xfrm>
          </p:grpSpPr>
          <p:sp>
            <p:nvSpPr>
              <p:cNvPr id="177" name="Google Shape;177;p4"/>
              <p:cNvSpPr/>
              <p:nvPr/>
            </p:nvSpPr>
            <p:spPr>
              <a:xfrm>
                <a:off x="0" y="0"/>
                <a:ext cx="3381300" cy="1095300"/>
              </a:xfrm>
              <a:prstGeom prst="roundRect">
                <a:avLst>
                  <a:gd fmla="val 5217" name="adj"/>
                </a:avLst>
              </a:prstGeom>
              <a:solidFill>
                <a:srgbClr val="151D30"/>
              </a:solidFill>
              <a:ln cap="flat" cmpd="sng" w="9525">
                <a:solidFill>
                  <a:srgbClr val="2E384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" name="Google Shape;178;p4"/>
              <p:cNvSpPr txBox="1"/>
              <p:nvPr/>
            </p:nvSpPr>
            <p:spPr>
              <a:xfrm>
                <a:off x="142875" y="114300"/>
                <a:ext cx="30957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50">
                    <a:solidFill>
                      <a:srgbClr val="E0BE75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04. VALIDATION &amp; SANITIZATION</a:t>
                </a:r>
                <a:endParaRPr b="1" sz="950">
                  <a:solidFill>
                    <a:srgbClr val="E0BE75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rgbClr val="94A3B8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middleware/validate.js</a:t>
                </a:r>
                <a:br>
                  <a:rPr lang="en-US" sz="1000">
                    <a:solidFill>
                      <a:srgbClr val="E2E8F0"/>
                    </a:solidFill>
                    <a:latin typeface="DM Sans"/>
                    <a:ea typeface="DM Sans"/>
                    <a:cs typeface="DM Sans"/>
                    <a:sym typeface="DM Sans"/>
                  </a:rPr>
                </a:br>
                <a:r>
                  <a:rPr lang="en-US" sz="1000">
                    <a:solidFill>
                      <a:srgbClr val="E2E8F0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Strict input validation serving as a 400 Bad Request error boundary.</a:t>
                </a:r>
                <a:endParaRPr sz="1000">
                  <a:solidFill>
                    <a:srgbClr val="E2E8F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179" name="Google Shape;179;p4"/>
            <p:cNvGrpSpPr/>
            <p:nvPr/>
          </p:nvGrpSpPr>
          <p:grpSpPr>
            <a:xfrm>
              <a:off x="714375" y="3286125"/>
              <a:ext cx="3190800" cy="1238400"/>
              <a:chOff x="0" y="0"/>
              <a:chExt cx="3190800" cy="1238400"/>
            </a:xfrm>
          </p:grpSpPr>
          <p:sp>
            <p:nvSpPr>
              <p:cNvPr id="180" name="Google Shape;180;p4"/>
              <p:cNvSpPr/>
              <p:nvPr/>
            </p:nvSpPr>
            <p:spPr>
              <a:xfrm>
                <a:off x="0" y="0"/>
                <a:ext cx="3190800" cy="1238400"/>
              </a:xfrm>
              <a:prstGeom prst="roundRect">
                <a:avLst>
                  <a:gd fmla="val 4615" name="adj"/>
                </a:avLst>
              </a:prstGeom>
              <a:solidFill>
                <a:srgbClr val="151D30"/>
              </a:solidFill>
              <a:ln cap="flat" cmpd="sng" w="9525">
                <a:solidFill>
                  <a:srgbClr val="2E384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4"/>
              <p:cNvSpPr txBox="1"/>
              <p:nvPr/>
            </p:nvSpPr>
            <p:spPr>
              <a:xfrm>
                <a:off x="142875" y="114300"/>
                <a:ext cx="2905200" cy="10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50">
                    <a:solidFill>
                      <a:srgbClr val="E0BE75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02. BODY PARSING &amp; LOGGING</a:t>
                </a:r>
                <a:endParaRPr b="1" sz="950">
                  <a:solidFill>
                    <a:srgbClr val="E0BE75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rgbClr val="E2E8F0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CORS enablement, </a:t>
                </a:r>
                <a:r>
                  <a:rPr lang="en-US" sz="900">
                    <a:solidFill>
                      <a:srgbClr val="CBD5E1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express.json()</a:t>
                </a:r>
                <a:r>
                  <a:rPr lang="en-US" sz="1000">
                    <a:solidFill>
                      <a:srgbClr val="E2E8F0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 body parser, and Morgan HTTP request logging.</a:t>
                </a:r>
                <a:endParaRPr sz="1000">
                  <a:solidFill>
                    <a:srgbClr val="E2E8F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182" name="Google Shape;182;p4"/>
            <p:cNvGrpSpPr/>
            <p:nvPr/>
          </p:nvGrpSpPr>
          <p:grpSpPr>
            <a:xfrm>
              <a:off x="4191000" y="3286125"/>
              <a:ext cx="3381300" cy="1238400"/>
              <a:chOff x="0" y="0"/>
              <a:chExt cx="3381300" cy="1238400"/>
            </a:xfrm>
          </p:grpSpPr>
          <p:sp>
            <p:nvSpPr>
              <p:cNvPr id="183" name="Google Shape;183;p4"/>
              <p:cNvSpPr/>
              <p:nvPr/>
            </p:nvSpPr>
            <p:spPr>
              <a:xfrm>
                <a:off x="0" y="0"/>
                <a:ext cx="3381300" cy="1238400"/>
              </a:xfrm>
              <a:prstGeom prst="roundRect">
                <a:avLst>
                  <a:gd fmla="val 4615" name="adj"/>
                </a:avLst>
              </a:prstGeom>
              <a:solidFill>
                <a:srgbClr val="151D30"/>
              </a:solidFill>
              <a:ln cap="flat" cmpd="sng" w="9525">
                <a:solidFill>
                  <a:srgbClr val="2E384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4"/>
              <p:cNvSpPr txBox="1"/>
              <p:nvPr/>
            </p:nvSpPr>
            <p:spPr>
              <a:xfrm>
                <a:off x="142875" y="114300"/>
                <a:ext cx="3095700" cy="10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50">
                    <a:solidFill>
                      <a:srgbClr val="E0BE75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05. DOMAIN CONTROLLER</a:t>
                </a:r>
                <a:endParaRPr b="1" sz="950">
                  <a:solidFill>
                    <a:srgbClr val="E0BE75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rgbClr val="94A3B8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controllers/*.js</a:t>
                </a:r>
                <a:br>
                  <a:rPr lang="en-US" sz="1000">
                    <a:solidFill>
                      <a:srgbClr val="E2E8F0"/>
                    </a:solidFill>
                    <a:latin typeface="DM Sans"/>
                    <a:ea typeface="DM Sans"/>
                    <a:cs typeface="DM Sans"/>
                    <a:sym typeface="DM Sans"/>
                  </a:rPr>
                </a:br>
                <a:r>
                  <a:rPr lang="en-US" sz="1000">
                    <a:solidFill>
                      <a:srgbClr val="E2E8F0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Executes core business logic and state transition guards.</a:t>
                </a:r>
                <a:endParaRPr sz="1000">
                  <a:solidFill>
                    <a:srgbClr val="E2E8F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185" name="Google Shape;185;p4"/>
            <p:cNvGrpSpPr/>
            <p:nvPr/>
          </p:nvGrpSpPr>
          <p:grpSpPr>
            <a:xfrm>
              <a:off x="714375" y="4667250"/>
              <a:ext cx="3190800" cy="1285800"/>
              <a:chOff x="0" y="0"/>
              <a:chExt cx="3190800" cy="1285800"/>
            </a:xfrm>
          </p:grpSpPr>
          <p:sp>
            <p:nvSpPr>
              <p:cNvPr id="186" name="Google Shape;186;p4"/>
              <p:cNvSpPr/>
              <p:nvPr/>
            </p:nvSpPr>
            <p:spPr>
              <a:xfrm>
                <a:off x="0" y="0"/>
                <a:ext cx="3190800" cy="1285800"/>
              </a:xfrm>
              <a:prstGeom prst="roundRect">
                <a:avLst>
                  <a:gd fmla="val 4444" name="adj"/>
                </a:avLst>
              </a:prstGeom>
              <a:solidFill>
                <a:srgbClr val="151D30"/>
              </a:solidFill>
              <a:ln cap="flat" cmpd="sng" w="9525">
                <a:solidFill>
                  <a:srgbClr val="2E384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4"/>
              <p:cNvSpPr txBox="1"/>
              <p:nvPr/>
            </p:nvSpPr>
            <p:spPr>
              <a:xfrm>
                <a:off x="142875" y="114300"/>
                <a:ext cx="2905200" cy="104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50">
                    <a:solidFill>
                      <a:srgbClr val="E0BE75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03. SECURE AUTHENTICATION GUARDS</a:t>
                </a:r>
                <a:endParaRPr b="1" sz="950">
                  <a:solidFill>
                    <a:srgbClr val="E0BE75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rgbClr val="E2E8F0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JWT verification (</a:t>
                </a:r>
                <a:r>
                  <a:rPr lang="en-US" sz="900">
                    <a:solidFill>
                      <a:srgbClr val="94A3B8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auth.js</a:t>
                </a:r>
                <a:r>
                  <a:rPr lang="en-US" sz="1000">
                    <a:solidFill>
                      <a:srgbClr val="E2E8F0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) followed by RBAC role validation (Staff / Admin checks).</a:t>
                </a:r>
                <a:endParaRPr sz="1000">
                  <a:solidFill>
                    <a:srgbClr val="E2E8F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188" name="Google Shape;188;p4"/>
            <p:cNvGrpSpPr/>
            <p:nvPr/>
          </p:nvGrpSpPr>
          <p:grpSpPr>
            <a:xfrm>
              <a:off x="4191000" y="4667250"/>
              <a:ext cx="3381300" cy="1285800"/>
              <a:chOff x="0" y="0"/>
              <a:chExt cx="3381300" cy="1285800"/>
            </a:xfrm>
          </p:grpSpPr>
          <p:sp>
            <p:nvSpPr>
              <p:cNvPr id="189" name="Google Shape;189;p4"/>
              <p:cNvSpPr/>
              <p:nvPr/>
            </p:nvSpPr>
            <p:spPr>
              <a:xfrm>
                <a:off x="0" y="0"/>
                <a:ext cx="3381300" cy="1285800"/>
              </a:xfrm>
              <a:prstGeom prst="roundRect">
                <a:avLst>
                  <a:gd fmla="val 4444" name="adj"/>
                </a:avLst>
              </a:prstGeom>
              <a:solidFill>
                <a:srgbClr val="151D30"/>
              </a:solidFill>
              <a:ln cap="flat" cmpd="sng" w="9525">
                <a:solidFill>
                  <a:srgbClr val="E0BE7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4"/>
              <p:cNvSpPr txBox="1"/>
              <p:nvPr/>
            </p:nvSpPr>
            <p:spPr>
              <a:xfrm>
                <a:off x="142875" y="114300"/>
                <a:ext cx="3095700" cy="104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50">
                    <a:solidFill>
                      <a:srgbClr val="E0BE75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06. DATA PERSISTENCE &amp; OUTPUT</a:t>
                </a:r>
                <a:endParaRPr b="1" sz="950">
                  <a:solidFill>
                    <a:srgbClr val="E0BE75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rgbClr val="E2E8F0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Mongoose schema validation (</a:t>
                </a:r>
                <a:r>
                  <a:rPr lang="en-US" sz="900">
                    <a:solidFill>
                      <a:srgbClr val="94A3B8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models/*.js</a:t>
                </a:r>
                <a:r>
                  <a:rPr lang="en-US" sz="1000">
                    <a:solidFill>
                      <a:srgbClr val="E2E8F0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), MongoDB Atlas commit, and Uniform Response Envelope dispatch.</a:t>
                </a:r>
                <a:endParaRPr sz="1000">
                  <a:solidFill>
                    <a:srgbClr val="E2E8F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sp>
          <p:nvSpPr>
            <p:cNvPr id="191" name="Google Shape;191;p4"/>
            <p:cNvSpPr/>
            <p:nvPr/>
          </p:nvSpPr>
          <p:spPr>
            <a:xfrm>
              <a:off x="3905250" y="2543175"/>
              <a:ext cx="285900" cy="9540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  <a:moveTo>
                    <a:pt x="100000" y="0"/>
                  </a:moveTo>
                  <a:lnTo>
                    <a:pt x="120000" y="60000"/>
                  </a:lnTo>
                  <a:lnTo>
                    <a:pt x="10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E0BE7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4"/>
            <p:cNvSpPr/>
            <p:nvPr/>
          </p:nvSpPr>
          <p:spPr>
            <a:xfrm>
              <a:off x="3905250" y="5257800"/>
              <a:ext cx="285900" cy="9540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  <a:moveTo>
                    <a:pt x="100000" y="0"/>
                  </a:moveTo>
                  <a:lnTo>
                    <a:pt x="120000" y="60000"/>
                  </a:lnTo>
                  <a:lnTo>
                    <a:pt x="10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E0BE7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4"/>
            <p:cNvSpPr txBox="1"/>
            <p:nvPr/>
          </p:nvSpPr>
          <p:spPr>
            <a:xfrm>
              <a:off x="8334375" y="1714500"/>
              <a:ext cx="3143400" cy="40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B1220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Pattern Rationale</a:t>
              </a:r>
              <a:endParaRPr b="1" sz="1800">
                <a:solidFill>
                  <a:srgbClr val="0B1220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475569"/>
                  </a:solidFill>
                  <a:latin typeface="DM Sans"/>
                  <a:ea typeface="DM Sans"/>
                  <a:cs typeface="DM Sans"/>
                  <a:sym typeface="DM Sans"/>
                </a:rPr>
                <a:t>Model-View-Controller (MVC) architecture coupled with modular layered middleware keeps HTTP routing completely isolated from banking transaction business rules.</a:t>
              </a:r>
              <a:endParaRPr sz="105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B1220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Uniform Response Envelope</a:t>
              </a:r>
              <a:endParaRPr b="1" sz="1800">
                <a:solidFill>
                  <a:srgbClr val="0B1220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475569"/>
                  </a:solidFill>
                  <a:latin typeface="DM Sans"/>
                  <a:ea typeface="DM Sans"/>
                  <a:cs typeface="DM Sans"/>
                  <a:sym typeface="DM Sans"/>
                </a:rPr>
                <a:t>Standardizes all outbound API payloads (</a:t>
              </a:r>
              <a:r>
                <a:rPr lang="en-US" sz="950">
                  <a:solidFill>
                    <a:srgbClr val="8C6319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sendSuccess</a:t>
              </a:r>
              <a:r>
                <a:rPr lang="en-US" sz="1050">
                  <a:solidFill>
                    <a:srgbClr val="475569"/>
                  </a:solidFill>
                  <a:latin typeface="DM Sans"/>
                  <a:ea typeface="DM Sans"/>
                  <a:cs typeface="DM Sans"/>
                  <a:sym typeface="DM Sans"/>
                </a:rPr>
                <a:t> and </a:t>
              </a:r>
              <a:r>
                <a:rPr lang="en-US" sz="950">
                  <a:solidFill>
                    <a:srgbClr val="8C6319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sendError</a:t>
              </a:r>
              <a:r>
                <a:rPr lang="en-US" sz="1050">
                  <a:solidFill>
                    <a:srgbClr val="475569"/>
                  </a:solidFill>
                  <a:latin typeface="DM Sans"/>
                  <a:ea typeface="DM Sans"/>
                  <a:cs typeface="DM Sans"/>
                  <a:sym typeface="DM Sans"/>
                </a:rPr>
                <a:t>), ensuring deterministic, highly reliable client contracts.</a:t>
              </a:r>
              <a:endParaRPr sz="105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94" name="Google Shape;194;p4"/>
          <p:cNvSpPr txBox="1"/>
          <p:nvPr/>
        </p:nvSpPr>
        <p:spPr>
          <a:xfrm>
            <a:off x="476250" y="285750"/>
            <a:ext cx="11239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C6319"/>
                </a:solidFill>
                <a:latin typeface="DM Sans"/>
                <a:ea typeface="DM Sans"/>
                <a:cs typeface="DM Sans"/>
                <a:sym typeface="DM Sans"/>
              </a:rPr>
              <a:t>03 — ARCHITECTURAL DESIGN</a:t>
            </a:r>
            <a:endParaRPr/>
          </a:p>
        </p:txBody>
      </p:sp>
      <p:sp>
        <p:nvSpPr>
          <p:cNvPr id="195" name="Google Shape;195;p4"/>
          <p:cNvSpPr txBox="1"/>
          <p:nvPr/>
        </p:nvSpPr>
        <p:spPr>
          <a:xfrm>
            <a:off x="476250" y="558475"/>
            <a:ext cx="11715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B1220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Architectural Design &amp; Request Pipeline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0" name="Google Shape;20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23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042968" y="1397198"/>
            <a:ext cx="1428750" cy="30112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042968" y="4560837"/>
            <a:ext cx="1428750" cy="30112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50" y="6362700"/>
            <a:ext cx="112395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5"/>
          <p:cNvSpPr txBox="1"/>
          <p:nvPr/>
        </p:nvSpPr>
        <p:spPr>
          <a:xfrm>
            <a:off x="476250" y="6467475"/>
            <a:ext cx="25527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37082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Document Architecture &amp; Scale Trade-offs</a:t>
            </a:r>
            <a:endParaRPr/>
          </a:p>
        </p:txBody>
      </p:sp>
      <p:sp>
        <p:nvSpPr>
          <p:cNvPr id="205" name="Google Shape;205;p5"/>
          <p:cNvSpPr txBox="1"/>
          <p:nvPr/>
        </p:nvSpPr>
        <p:spPr>
          <a:xfrm>
            <a:off x="11239500" y="6467475"/>
            <a:ext cx="4762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37082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Slide 05</a:t>
            </a:r>
            <a:endParaRPr/>
          </a:p>
        </p:txBody>
      </p:sp>
      <p:sp>
        <p:nvSpPr>
          <p:cNvPr id="206" name="Google Shape;206;p5"/>
          <p:cNvSpPr txBox="1"/>
          <p:nvPr/>
        </p:nvSpPr>
        <p:spPr>
          <a:xfrm>
            <a:off x="657225" y="1921073"/>
            <a:ext cx="11534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5"/>
          <p:cNvSpPr txBox="1"/>
          <p:nvPr/>
        </p:nvSpPr>
        <p:spPr>
          <a:xfrm>
            <a:off x="58242993" y="1597223"/>
            <a:ext cx="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0B1220"/>
                </a:solidFill>
                <a:latin typeface="EB Garamond"/>
                <a:ea typeface="EB Garamond"/>
                <a:cs typeface="EB Garamond"/>
                <a:sym typeface="EB Garamond"/>
              </a:rPr>
              <a:t>Embedded KYC Details</a:t>
            </a:r>
            <a:endParaRPr/>
          </a:p>
        </p:txBody>
      </p:sp>
      <p:sp>
        <p:nvSpPr>
          <p:cNvPr id="208" name="Google Shape;208;p5"/>
          <p:cNvSpPr txBox="1"/>
          <p:nvPr/>
        </p:nvSpPr>
        <p:spPr>
          <a:xfrm>
            <a:off x="58242993" y="2425898"/>
            <a:ext cx="0" cy="1801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Tightly coupled to the user; avoids expensive multi-collection joins during everyday session authentication.</a:t>
            </a:r>
            <a:endParaRPr/>
          </a:p>
        </p:txBody>
      </p:sp>
      <p:sp>
        <p:nvSpPr>
          <p:cNvPr id="209" name="Google Shape;209;p5"/>
          <p:cNvSpPr txBox="1"/>
          <p:nvPr/>
        </p:nvSpPr>
        <p:spPr>
          <a:xfrm>
            <a:off x="58242993" y="4760862"/>
            <a:ext cx="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0B1220"/>
                </a:solidFill>
                <a:latin typeface="EB Garamond"/>
                <a:ea typeface="EB Garamond"/>
                <a:cs typeface="EB Garamond"/>
                <a:sym typeface="EB Garamond"/>
              </a:rPr>
              <a:t>Referenced Accounts &amp; Ledgers</a:t>
            </a:r>
            <a:endParaRPr/>
          </a:p>
        </p:txBody>
      </p:sp>
      <p:sp>
        <p:nvSpPr>
          <p:cNvPr id="210" name="Google Shape;210;p5"/>
          <p:cNvSpPr txBox="1"/>
          <p:nvPr/>
        </p:nvSpPr>
        <p:spPr>
          <a:xfrm>
            <a:off x="58242993" y="5589537"/>
            <a:ext cx="0" cy="126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Accommodates unbounded one-to-many scaling and circumvents MongoDB's strict 16MB single-document limit.</a:t>
            </a:r>
            <a:endParaRPr/>
          </a:p>
        </p:txBody>
      </p:sp>
      <p:sp>
        <p:nvSpPr>
          <p:cNvPr id="211" name="Google Shape;211;p5"/>
          <p:cNvSpPr txBox="1"/>
          <p:nvPr/>
        </p:nvSpPr>
        <p:spPr>
          <a:xfrm>
            <a:off x="476250" y="285750"/>
            <a:ext cx="11239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C6319"/>
                </a:solidFill>
                <a:latin typeface="DM Sans"/>
                <a:ea typeface="DM Sans"/>
                <a:cs typeface="DM Sans"/>
                <a:sym typeface="DM Sans"/>
              </a:rPr>
              <a:t>04 — DATABASE DESIGN</a:t>
            </a:r>
            <a:r>
              <a:rPr b="0" i="0" lang="en-US" sz="1200" u="none" cap="none" strike="noStrike">
                <a:solidFill>
                  <a:srgbClr val="1A2230"/>
                </a:solidFill>
                <a:latin typeface="DM Sans"/>
                <a:ea typeface="DM Sans"/>
                <a:cs typeface="DM Sans"/>
                <a:sym typeface="DM Sans"/>
              </a:rPr>
              <a:t>                                                   </a:t>
            </a:r>
            <a:endParaRPr/>
          </a:p>
        </p:txBody>
      </p:sp>
      <p:sp>
        <p:nvSpPr>
          <p:cNvPr id="212" name="Google Shape;212;p5"/>
          <p:cNvSpPr txBox="1"/>
          <p:nvPr/>
        </p:nvSpPr>
        <p:spPr>
          <a:xfrm>
            <a:off x="476250" y="582900"/>
            <a:ext cx="11715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B1220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Database Design &amp; Data Modeling Rationale</a:t>
            </a:r>
            <a:r>
              <a:rPr lang="en-US" sz="2700">
                <a:solidFill>
                  <a:srgbClr val="0B1220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 (ER Model)</a:t>
            </a:r>
            <a:endParaRPr/>
          </a:p>
        </p:txBody>
      </p:sp>
      <p:pic>
        <p:nvPicPr>
          <p:cNvPr id="213" name="Google Shape;213;p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70225" y="1397200"/>
            <a:ext cx="8037754" cy="486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8" name="Google Shape;21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1950094"/>
            <a:ext cx="3619500" cy="16807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86250" y="1950094"/>
            <a:ext cx="3619500" cy="16807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96250" y="1950094"/>
            <a:ext cx="3619500" cy="16807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50" y="3783210"/>
            <a:ext cx="3619500" cy="16807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86250" y="3783210"/>
            <a:ext cx="3619500" cy="16807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6250" y="3783210"/>
            <a:ext cx="3619500" cy="16807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6250" y="6362700"/>
            <a:ext cx="112395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6"/>
          <p:cNvSpPr txBox="1"/>
          <p:nvPr/>
        </p:nvSpPr>
        <p:spPr>
          <a:xfrm>
            <a:off x="476250" y="6467475"/>
            <a:ext cx="15144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37082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Retail Banking Capabilities</a:t>
            </a:r>
            <a:endParaRPr/>
          </a:p>
        </p:txBody>
      </p:sp>
      <p:sp>
        <p:nvSpPr>
          <p:cNvPr id="227" name="Google Shape;227;p6"/>
          <p:cNvSpPr txBox="1"/>
          <p:nvPr/>
        </p:nvSpPr>
        <p:spPr>
          <a:xfrm>
            <a:off x="11239500" y="6467475"/>
            <a:ext cx="4762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37082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Slide 06</a:t>
            </a:r>
            <a:endParaRPr/>
          </a:p>
        </p:txBody>
      </p:sp>
      <p:sp>
        <p:nvSpPr>
          <p:cNvPr id="228" name="Google Shape;228;p6"/>
          <p:cNvSpPr txBox="1"/>
          <p:nvPr/>
        </p:nvSpPr>
        <p:spPr>
          <a:xfrm>
            <a:off x="704850" y="2231082"/>
            <a:ext cx="31908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C6319"/>
                </a:solidFill>
                <a:latin typeface="DM Sans"/>
                <a:ea typeface="DM Sans"/>
                <a:cs typeface="DM Sans"/>
                <a:sym typeface="DM Sans"/>
              </a:rPr>
              <a:t>MODULE 1</a:t>
            </a:r>
            <a:endParaRPr/>
          </a:p>
        </p:txBody>
      </p:sp>
      <p:sp>
        <p:nvSpPr>
          <p:cNvPr id="229" name="Google Shape;229;p6"/>
          <p:cNvSpPr txBox="1"/>
          <p:nvPr/>
        </p:nvSpPr>
        <p:spPr>
          <a:xfrm>
            <a:off x="704850" y="2440632"/>
            <a:ext cx="3350418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B1220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Customer Onboarding &amp; KYC</a:t>
            </a:r>
            <a:endParaRPr/>
          </a:p>
        </p:txBody>
      </p:sp>
      <p:sp>
        <p:nvSpPr>
          <p:cNvPr id="230" name="Google Shape;230;p6"/>
          <p:cNvSpPr txBox="1"/>
          <p:nvPr/>
        </p:nvSpPr>
        <p:spPr>
          <a:xfrm>
            <a:off x="704850" y="2749153"/>
            <a:ext cx="3190800" cy="4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Registration with bcrypt-hashed passwords and structured KYC capture (address, income).</a:t>
            </a:r>
            <a:endParaRPr/>
          </a:p>
        </p:txBody>
      </p:sp>
      <p:sp>
        <p:nvSpPr>
          <p:cNvPr id="231" name="Google Shape;231;p6"/>
          <p:cNvSpPr txBox="1"/>
          <p:nvPr/>
        </p:nvSpPr>
        <p:spPr>
          <a:xfrm>
            <a:off x="4514850" y="2231082"/>
            <a:ext cx="31908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C6319"/>
                </a:solidFill>
                <a:latin typeface="DM Sans"/>
                <a:ea typeface="DM Sans"/>
                <a:cs typeface="DM Sans"/>
                <a:sym typeface="DM Sans"/>
              </a:rPr>
              <a:t>MODULE 3</a:t>
            </a:r>
            <a:endParaRPr/>
          </a:p>
        </p:txBody>
      </p:sp>
      <p:sp>
        <p:nvSpPr>
          <p:cNvPr id="232" name="Google Shape;232;p6"/>
          <p:cNvSpPr txBox="1"/>
          <p:nvPr/>
        </p:nvSpPr>
        <p:spPr>
          <a:xfrm>
            <a:off x="4514850" y="2440632"/>
            <a:ext cx="3350418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B1220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Account Lifecycle Management</a:t>
            </a:r>
            <a:endParaRPr/>
          </a:p>
        </p:txBody>
      </p:sp>
      <p:sp>
        <p:nvSpPr>
          <p:cNvPr id="233" name="Google Shape;233;p6"/>
          <p:cNvSpPr txBox="1"/>
          <p:nvPr/>
        </p:nvSpPr>
        <p:spPr>
          <a:xfrm>
            <a:off x="4514850" y="2749153"/>
            <a:ext cx="3190875" cy="600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Customers apply for Savings or Current accounts; system generates and assigns unique 10-digit account numbers.</a:t>
            </a:r>
            <a:endParaRPr/>
          </a:p>
        </p:txBody>
      </p:sp>
      <p:sp>
        <p:nvSpPr>
          <p:cNvPr id="234" name="Google Shape;234;p6"/>
          <p:cNvSpPr txBox="1"/>
          <p:nvPr/>
        </p:nvSpPr>
        <p:spPr>
          <a:xfrm>
            <a:off x="8324850" y="2131069"/>
            <a:ext cx="31908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C6319"/>
                </a:solidFill>
                <a:latin typeface="DM Sans"/>
                <a:ea typeface="DM Sans"/>
                <a:cs typeface="DM Sans"/>
                <a:sym typeface="DM Sans"/>
              </a:rPr>
              <a:t>MODULE 4</a:t>
            </a:r>
            <a:endParaRPr/>
          </a:p>
        </p:txBody>
      </p:sp>
      <p:sp>
        <p:nvSpPr>
          <p:cNvPr id="235" name="Google Shape;235;p6"/>
          <p:cNvSpPr txBox="1"/>
          <p:nvPr/>
        </p:nvSpPr>
        <p:spPr>
          <a:xfrm>
            <a:off x="8324850" y="2340619"/>
            <a:ext cx="3350418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B1220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Beneficiary Management</a:t>
            </a:r>
            <a:endParaRPr/>
          </a:p>
        </p:txBody>
      </p:sp>
      <p:sp>
        <p:nvSpPr>
          <p:cNvPr id="236" name="Google Shape;236;p6"/>
          <p:cNvSpPr txBox="1"/>
          <p:nvPr/>
        </p:nvSpPr>
        <p:spPr>
          <a:xfrm>
            <a:off x="8324850" y="2649140"/>
            <a:ext cx="3190875" cy="800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Whitelist trusted recipients; compound unique index prevents duplicates.</a:t>
            </a:r>
            <a:endParaRPr/>
          </a:p>
        </p:txBody>
      </p:sp>
      <p:sp>
        <p:nvSpPr>
          <p:cNvPr id="237" name="Google Shape;237;p6"/>
          <p:cNvSpPr txBox="1"/>
          <p:nvPr/>
        </p:nvSpPr>
        <p:spPr>
          <a:xfrm>
            <a:off x="704850" y="4064198"/>
            <a:ext cx="31908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C6319"/>
                </a:solidFill>
                <a:latin typeface="DM Sans"/>
                <a:ea typeface="DM Sans"/>
                <a:cs typeface="DM Sans"/>
                <a:sym typeface="DM Sans"/>
              </a:rPr>
              <a:t>MODULE 5</a:t>
            </a:r>
            <a:endParaRPr/>
          </a:p>
        </p:txBody>
      </p:sp>
      <p:sp>
        <p:nvSpPr>
          <p:cNvPr id="238" name="Google Shape;238;p6"/>
          <p:cNvSpPr txBox="1"/>
          <p:nvPr/>
        </p:nvSpPr>
        <p:spPr>
          <a:xfrm>
            <a:off x="704850" y="4273748"/>
            <a:ext cx="3350418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B1220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Fund Transfer Engine</a:t>
            </a:r>
            <a:endParaRPr/>
          </a:p>
        </p:txBody>
      </p:sp>
      <p:sp>
        <p:nvSpPr>
          <p:cNvPr id="239" name="Google Shape;239;p6"/>
          <p:cNvSpPr txBox="1"/>
          <p:nvPr/>
        </p:nvSpPr>
        <p:spPr>
          <a:xfrm>
            <a:off x="704850" y="4582269"/>
            <a:ext cx="3190875" cy="600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Atomic transfers between accounts with simultaneous source debit and destination credit ledger mutations.</a:t>
            </a:r>
            <a:endParaRPr/>
          </a:p>
        </p:txBody>
      </p:sp>
      <p:sp>
        <p:nvSpPr>
          <p:cNvPr id="240" name="Google Shape;240;p6"/>
          <p:cNvSpPr txBox="1"/>
          <p:nvPr/>
        </p:nvSpPr>
        <p:spPr>
          <a:xfrm>
            <a:off x="4514850" y="4164359"/>
            <a:ext cx="31908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C6319"/>
                </a:solidFill>
                <a:latin typeface="DM Sans"/>
                <a:ea typeface="DM Sans"/>
                <a:cs typeface="DM Sans"/>
                <a:sym typeface="DM Sans"/>
              </a:rPr>
              <a:t>MODULE 6 &amp; 7</a:t>
            </a:r>
            <a:endParaRPr/>
          </a:p>
        </p:txBody>
      </p:sp>
      <p:sp>
        <p:nvSpPr>
          <p:cNvPr id="241" name="Google Shape;241;p6"/>
          <p:cNvSpPr txBox="1"/>
          <p:nvPr/>
        </p:nvSpPr>
        <p:spPr>
          <a:xfrm>
            <a:off x="4514850" y="4373909"/>
            <a:ext cx="3350418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B1220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Immutable Ledger &amp; Statements</a:t>
            </a:r>
            <a:endParaRPr/>
          </a:p>
        </p:txBody>
      </p:sp>
      <p:sp>
        <p:nvSpPr>
          <p:cNvPr id="242" name="Google Shape;242;p6"/>
          <p:cNvSpPr txBox="1"/>
          <p:nvPr/>
        </p:nvSpPr>
        <p:spPr>
          <a:xfrm>
            <a:off x="4514850" y="4682430"/>
            <a:ext cx="3190875" cy="400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Running ledger and date-filtered statement exports with net turnover statistics.</a:t>
            </a:r>
            <a:endParaRPr/>
          </a:p>
        </p:txBody>
      </p:sp>
      <p:sp>
        <p:nvSpPr>
          <p:cNvPr id="243" name="Google Shape;243;p6"/>
          <p:cNvSpPr txBox="1"/>
          <p:nvPr/>
        </p:nvSpPr>
        <p:spPr>
          <a:xfrm>
            <a:off x="8324850" y="4064198"/>
            <a:ext cx="31908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C6319"/>
                </a:solidFill>
                <a:latin typeface="DM Sans"/>
                <a:ea typeface="DM Sans"/>
                <a:cs typeface="DM Sans"/>
                <a:sym typeface="DM Sans"/>
              </a:rPr>
              <a:t>MODULE 8</a:t>
            </a:r>
            <a:endParaRPr/>
          </a:p>
        </p:txBody>
      </p:sp>
      <p:sp>
        <p:nvSpPr>
          <p:cNvPr id="244" name="Google Shape;244;p6"/>
          <p:cNvSpPr txBox="1"/>
          <p:nvPr/>
        </p:nvSpPr>
        <p:spPr>
          <a:xfrm>
            <a:off x="8324850" y="4273748"/>
            <a:ext cx="3350418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B1220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Balance &amp; Limits Enforcement</a:t>
            </a:r>
            <a:endParaRPr/>
          </a:p>
        </p:txBody>
      </p:sp>
      <p:sp>
        <p:nvSpPr>
          <p:cNvPr id="245" name="Google Shape;245;p6"/>
          <p:cNvSpPr txBox="1"/>
          <p:nvPr/>
        </p:nvSpPr>
        <p:spPr>
          <a:xfrm>
            <a:off x="8324850" y="4582269"/>
            <a:ext cx="3190875" cy="600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Enforces minimum balance (Savings: ₹1,000 | Current: ₹5,000) and cumulative daily transfer limit (₹1,00,000).</a:t>
            </a:r>
            <a:endParaRPr/>
          </a:p>
        </p:txBody>
      </p:sp>
      <p:pic>
        <p:nvPicPr>
          <p:cNvPr descr="image.png" id="246" name="Google Shape;246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724275" y="2231082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553325" y="2231082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1363325" y="2131069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705225" y="4064198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591425" y="4164359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048250" y="4663380"/>
            <a:ext cx="10668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1325225" y="4064198"/>
            <a:ext cx="1905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6"/>
          <p:cNvSpPr txBox="1"/>
          <p:nvPr/>
        </p:nvSpPr>
        <p:spPr>
          <a:xfrm>
            <a:off x="476250" y="285750"/>
            <a:ext cx="11239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C6319"/>
                </a:solidFill>
                <a:latin typeface="DM Sans"/>
                <a:ea typeface="DM Sans"/>
                <a:cs typeface="DM Sans"/>
                <a:sym typeface="DM Sans"/>
              </a:rPr>
              <a:t>05 — CUSTOMER WORKFLOWS</a:t>
            </a:r>
            <a:r>
              <a:rPr b="0" i="0" lang="en-US" sz="1200" u="none" cap="none" strike="noStrike">
                <a:solidFill>
                  <a:srgbClr val="1A223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/>
          </a:p>
        </p:txBody>
      </p:sp>
      <p:sp>
        <p:nvSpPr>
          <p:cNvPr id="254" name="Google Shape;254;p6"/>
          <p:cNvSpPr txBox="1"/>
          <p:nvPr/>
        </p:nvSpPr>
        <p:spPr>
          <a:xfrm>
            <a:off x="476250" y="670473"/>
            <a:ext cx="11715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B1220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Core Modules — Customer Banking Workflows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9" name="Google Shape;25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1950094"/>
            <a:ext cx="3619500" cy="16807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86250" y="1950094"/>
            <a:ext cx="3619500" cy="16807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96250" y="1950094"/>
            <a:ext cx="3619500" cy="16807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3" name="Google Shape;263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50" y="3783210"/>
            <a:ext cx="3619500" cy="16807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86250" y="3783210"/>
            <a:ext cx="3619500" cy="16807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6250" y="3783210"/>
            <a:ext cx="3619500" cy="16807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6250" y="6362700"/>
            <a:ext cx="112395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7"/>
          <p:cNvSpPr txBox="1"/>
          <p:nvPr/>
        </p:nvSpPr>
        <p:spPr>
          <a:xfrm>
            <a:off x="476250" y="6467475"/>
            <a:ext cx="22955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37082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Administrative &amp; Compliance Authority</a:t>
            </a:r>
            <a:endParaRPr/>
          </a:p>
        </p:txBody>
      </p:sp>
      <p:sp>
        <p:nvSpPr>
          <p:cNvPr id="268" name="Google Shape;268;p7"/>
          <p:cNvSpPr txBox="1"/>
          <p:nvPr/>
        </p:nvSpPr>
        <p:spPr>
          <a:xfrm>
            <a:off x="11249025" y="6467475"/>
            <a:ext cx="4667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37082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Slide 07</a:t>
            </a:r>
            <a:endParaRPr/>
          </a:p>
        </p:txBody>
      </p:sp>
      <p:sp>
        <p:nvSpPr>
          <p:cNvPr id="269" name="Google Shape;269;p7"/>
          <p:cNvSpPr txBox="1"/>
          <p:nvPr/>
        </p:nvSpPr>
        <p:spPr>
          <a:xfrm>
            <a:off x="704850" y="2131069"/>
            <a:ext cx="31908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C6319"/>
                </a:solidFill>
                <a:latin typeface="DM Sans"/>
                <a:ea typeface="DM Sans"/>
                <a:cs typeface="DM Sans"/>
                <a:sym typeface="DM Sans"/>
              </a:rPr>
              <a:t>MODULE 2</a:t>
            </a:r>
            <a:endParaRPr/>
          </a:p>
        </p:txBody>
      </p:sp>
      <p:sp>
        <p:nvSpPr>
          <p:cNvPr id="270" name="Google Shape;270;p7"/>
          <p:cNvSpPr txBox="1"/>
          <p:nvPr/>
        </p:nvSpPr>
        <p:spPr>
          <a:xfrm>
            <a:off x="704850" y="2340619"/>
            <a:ext cx="3350418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B1220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Account Approval Workflow</a:t>
            </a:r>
            <a:endParaRPr/>
          </a:p>
        </p:txBody>
      </p:sp>
      <p:sp>
        <p:nvSpPr>
          <p:cNvPr id="271" name="Google Shape;271;p7"/>
          <p:cNvSpPr txBox="1"/>
          <p:nvPr/>
        </p:nvSpPr>
        <p:spPr>
          <a:xfrm>
            <a:off x="704850" y="2649140"/>
            <a:ext cx="3190875" cy="800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Staff reviews pending queue (), inspects KYC, and approves with initial deposit activation or rejects with mandatory remarks.</a:t>
            </a:r>
            <a:endParaRPr/>
          </a:p>
        </p:txBody>
      </p:sp>
      <p:sp>
        <p:nvSpPr>
          <p:cNvPr id="272" name="Google Shape;272;p7"/>
          <p:cNvSpPr txBox="1"/>
          <p:nvPr/>
        </p:nvSpPr>
        <p:spPr>
          <a:xfrm>
            <a:off x="4514850" y="2231082"/>
            <a:ext cx="31908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C6319"/>
                </a:solidFill>
                <a:latin typeface="DM Sans"/>
                <a:ea typeface="DM Sans"/>
                <a:cs typeface="DM Sans"/>
                <a:sym typeface="DM Sans"/>
              </a:rPr>
              <a:t>MODULE 9</a:t>
            </a:r>
            <a:endParaRPr/>
          </a:p>
        </p:txBody>
      </p:sp>
      <p:sp>
        <p:nvSpPr>
          <p:cNvPr id="273" name="Google Shape;273;p7"/>
          <p:cNvSpPr txBox="1"/>
          <p:nvPr/>
        </p:nvSpPr>
        <p:spPr>
          <a:xfrm>
            <a:off x="4514850" y="2440632"/>
            <a:ext cx="3350418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B1220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AML &amp; Suspicious Flagging</a:t>
            </a:r>
            <a:endParaRPr/>
          </a:p>
        </p:txBody>
      </p:sp>
      <p:sp>
        <p:nvSpPr>
          <p:cNvPr id="274" name="Google Shape;274;p7"/>
          <p:cNvSpPr txBox="1"/>
          <p:nvPr/>
        </p:nvSpPr>
        <p:spPr>
          <a:xfrm>
            <a:off x="4514850" y="2749153"/>
            <a:ext cx="3190875" cy="600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Automated threshold trigger on any transaction ≥ ₹50,000; flags transaction for compliance review and staff sign-off.</a:t>
            </a:r>
            <a:endParaRPr/>
          </a:p>
        </p:txBody>
      </p:sp>
      <p:sp>
        <p:nvSpPr>
          <p:cNvPr id="275" name="Google Shape;275;p7"/>
          <p:cNvSpPr txBox="1"/>
          <p:nvPr/>
        </p:nvSpPr>
        <p:spPr>
          <a:xfrm>
            <a:off x="8324850" y="2231082"/>
            <a:ext cx="31908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C6319"/>
                </a:solidFill>
                <a:latin typeface="DM Sans"/>
                <a:ea typeface="DM Sans"/>
                <a:cs typeface="DM Sans"/>
                <a:sym typeface="DM Sans"/>
              </a:rPr>
              <a:t>MODULE 10</a:t>
            </a:r>
            <a:endParaRPr/>
          </a:p>
        </p:txBody>
      </p:sp>
      <p:sp>
        <p:nvSpPr>
          <p:cNvPr id="276" name="Google Shape;276;p7"/>
          <p:cNvSpPr txBox="1"/>
          <p:nvPr/>
        </p:nvSpPr>
        <p:spPr>
          <a:xfrm>
            <a:off x="8324850" y="2440632"/>
            <a:ext cx="3350418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B1220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Account Freeze / Unfreeze</a:t>
            </a:r>
            <a:endParaRPr/>
          </a:p>
        </p:txBody>
      </p:sp>
      <p:sp>
        <p:nvSpPr>
          <p:cNvPr id="277" name="Google Shape;277;p7"/>
          <p:cNvSpPr txBox="1"/>
          <p:nvPr/>
        </p:nvSpPr>
        <p:spPr>
          <a:xfrm>
            <a:off x="8324850" y="2749153"/>
            <a:ext cx="3190875" cy="600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Security control transitioning accounts from to ; strictly blocks outgoing debits while preserving audit trails.</a:t>
            </a:r>
            <a:endParaRPr/>
          </a:p>
        </p:txBody>
      </p:sp>
      <p:sp>
        <p:nvSpPr>
          <p:cNvPr id="278" name="Google Shape;278;p7"/>
          <p:cNvSpPr txBox="1"/>
          <p:nvPr/>
        </p:nvSpPr>
        <p:spPr>
          <a:xfrm>
            <a:off x="704850" y="4064198"/>
            <a:ext cx="31908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C6319"/>
                </a:solidFill>
                <a:latin typeface="DM Sans"/>
                <a:ea typeface="DM Sans"/>
                <a:cs typeface="DM Sans"/>
                <a:sym typeface="DM Sans"/>
              </a:rPr>
              <a:t>MODULE 11</a:t>
            </a:r>
            <a:endParaRPr/>
          </a:p>
        </p:txBody>
      </p:sp>
      <p:sp>
        <p:nvSpPr>
          <p:cNvPr id="279" name="Google Shape;279;p7"/>
          <p:cNvSpPr txBox="1"/>
          <p:nvPr/>
        </p:nvSpPr>
        <p:spPr>
          <a:xfrm>
            <a:off x="704850" y="4273748"/>
            <a:ext cx="3350418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B1220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Periodic Interest Accrual</a:t>
            </a:r>
            <a:endParaRPr/>
          </a:p>
        </p:txBody>
      </p:sp>
      <p:sp>
        <p:nvSpPr>
          <p:cNvPr id="280" name="Google Shape;280;p7"/>
          <p:cNvSpPr txBox="1"/>
          <p:nvPr/>
        </p:nvSpPr>
        <p:spPr>
          <a:xfrm>
            <a:off x="704850" y="4582269"/>
            <a:ext cx="3190875" cy="600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Batch job calculating daily simple interest on active Savings accounts (4.0% per annum) with automated ledger accrual.</a:t>
            </a:r>
            <a:endParaRPr/>
          </a:p>
        </p:txBody>
      </p:sp>
      <p:sp>
        <p:nvSpPr>
          <p:cNvPr id="281" name="Google Shape;281;p7"/>
          <p:cNvSpPr txBox="1"/>
          <p:nvPr/>
        </p:nvSpPr>
        <p:spPr>
          <a:xfrm>
            <a:off x="4514850" y="4064198"/>
            <a:ext cx="31908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C6319"/>
                </a:solidFill>
                <a:latin typeface="DM Sans"/>
                <a:ea typeface="DM Sans"/>
                <a:cs typeface="DM Sans"/>
                <a:sym typeface="DM Sans"/>
              </a:rPr>
              <a:t>MODULE 12</a:t>
            </a:r>
            <a:endParaRPr/>
          </a:p>
        </p:txBody>
      </p:sp>
      <p:sp>
        <p:nvSpPr>
          <p:cNvPr id="282" name="Google Shape;282;p7"/>
          <p:cNvSpPr txBox="1"/>
          <p:nvPr/>
        </p:nvSpPr>
        <p:spPr>
          <a:xfrm>
            <a:off x="4514850" y="4273748"/>
            <a:ext cx="3350418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B1220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Staff Monitoring Dashboard</a:t>
            </a:r>
            <a:endParaRPr/>
          </a:p>
        </p:txBody>
      </p:sp>
      <p:sp>
        <p:nvSpPr>
          <p:cNvPr id="283" name="Google Shape;283;p7"/>
          <p:cNvSpPr txBox="1"/>
          <p:nvPr/>
        </p:nvSpPr>
        <p:spPr>
          <a:xfrm>
            <a:off x="4514850" y="4582269"/>
            <a:ext cx="3190875" cy="600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Bank-wide aggregated metrics: total deposits, pending queues, frozen accounts, and flagged counts across all branches.</a:t>
            </a:r>
            <a:endParaRPr/>
          </a:p>
        </p:txBody>
      </p:sp>
      <p:sp>
        <p:nvSpPr>
          <p:cNvPr id="284" name="Google Shape;284;p7"/>
          <p:cNvSpPr txBox="1"/>
          <p:nvPr/>
        </p:nvSpPr>
        <p:spPr>
          <a:xfrm>
            <a:off x="8324850" y="4164359"/>
            <a:ext cx="31908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C6319"/>
                </a:solidFill>
                <a:latin typeface="DM Sans"/>
                <a:ea typeface="DM Sans"/>
                <a:cs typeface="DM Sans"/>
                <a:sym typeface="DM Sans"/>
              </a:rPr>
              <a:t>MODULE 13</a:t>
            </a:r>
            <a:endParaRPr/>
          </a:p>
        </p:txBody>
      </p:sp>
      <p:sp>
        <p:nvSpPr>
          <p:cNvPr id="285" name="Google Shape;285;p7"/>
          <p:cNvSpPr txBox="1"/>
          <p:nvPr/>
        </p:nvSpPr>
        <p:spPr>
          <a:xfrm>
            <a:off x="8324850" y="4373909"/>
            <a:ext cx="3350418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B1220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Role-Based Access Control</a:t>
            </a:r>
            <a:endParaRPr/>
          </a:p>
        </p:txBody>
      </p:sp>
      <p:sp>
        <p:nvSpPr>
          <p:cNvPr id="286" name="Google Shape;286;p7"/>
          <p:cNvSpPr txBox="1"/>
          <p:nvPr/>
        </p:nvSpPr>
        <p:spPr>
          <a:xfrm>
            <a:off x="8324850" y="4682430"/>
            <a:ext cx="3190875" cy="400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JWT middleware enforcing strict access policies across , , and roles.</a:t>
            </a:r>
            <a:endParaRPr/>
          </a:p>
        </p:txBody>
      </p:sp>
      <p:pic>
        <p:nvPicPr>
          <p:cNvPr descr="image.png" id="287" name="Google Shape;287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762375" y="2131069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8" name="Google Shape;288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52475" y="2830264"/>
            <a:ext cx="1371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9" name="Google Shape;289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553325" y="2231082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0" name="Google Shape;290;p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382375" y="2231082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1" name="Google Shape;291;p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324850" y="2930276"/>
            <a:ext cx="609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2" name="Google Shape;292;p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934450" y="2930275"/>
            <a:ext cx="8766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3" name="Google Shape;293;p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3771900" y="4064198"/>
            <a:ext cx="123825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4" name="Google Shape;294;p7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7553325" y="4064198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5" name="Google Shape;295;p7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1382375" y="4164359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6" name="Google Shape;296;p7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8782050" y="4863554"/>
            <a:ext cx="7620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7" name="Google Shape;297;p7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9610725" y="4863554"/>
            <a:ext cx="5334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8" name="Google Shape;298;p7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0487025" y="4863554"/>
            <a:ext cx="5334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7"/>
          <p:cNvSpPr txBox="1"/>
          <p:nvPr/>
        </p:nvSpPr>
        <p:spPr>
          <a:xfrm>
            <a:off x="476250" y="285750"/>
            <a:ext cx="11239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C6319"/>
                </a:solidFill>
                <a:latin typeface="DM Sans"/>
                <a:ea typeface="DM Sans"/>
                <a:cs typeface="DM Sans"/>
                <a:sym typeface="DM Sans"/>
              </a:rPr>
              <a:t>06 — STAFF GOVERNANCE</a:t>
            </a:r>
            <a:r>
              <a:rPr b="0" i="0" lang="en-US" sz="1200" u="none" cap="none" strike="noStrike">
                <a:solidFill>
                  <a:srgbClr val="1A223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/>
          </a:p>
        </p:txBody>
      </p:sp>
      <p:sp>
        <p:nvSpPr>
          <p:cNvPr id="300" name="Google Shape;300;p7"/>
          <p:cNvSpPr txBox="1"/>
          <p:nvPr/>
        </p:nvSpPr>
        <p:spPr>
          <a:xfrm>
            <a:off x="476250" y="632374"/>
            <a:ext cx="11715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B1220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Core Modules — Staff Operations &amp; Governance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5" name="Google Shape;30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6" name="Google Shape;30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2647801"/>
            <a:ext cx="11239500" cy="10346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7" name="Google Shape;30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250" y="3834854"/>
            <a:ext cx="2156370" cy="9313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8" name="Google Shape;308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746920" y="3834854"/>
            <a:ext cx="2156519" cy="9313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9" name="Google Shape;309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17740" y="3834854"/>
            <a:ext cx="2156370" cy="9313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0" name="Google Shape;310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88410" y="3834854"/>
            <a:ext cx="2156519" cy="9313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1" name="Google Shape;311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559230" y="3834854"/>
            <a:ext cx="2156370" cy="9313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2" name="Google Shape;312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6250" y="6362700"/>
            <a:ext cx="112395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8"/>
          <p:cNvSpPr txBox="1"/>
          <p:nvPr/>
        </p:nvSpPr>
        <p:spPr>
          <a:xfrm>
            <a:off x="476250" y="6467475"/>
            <a:ext cx="31432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37082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Deterministic Finite State Machine &amp; Guard Hierarchy</a:t>
            </a:r>
            <a:endParaRPr/>
          </a:p>
        </p:txBody>
      </p:sp>
      <p:sp>
        <p:nvSpPr>
          <p:cNvPr id="314" name="Google Shape;314;p8"/>
          <p:cNvSpPr txBox="1"/>
          <p:nvPr/>
        </p:nvSpPr>
        <p:spPr>
          <a:xfrm>
            <a:off x="11239500" y="6467475"/>
            <a:ext cx="4762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37082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Slide 08</a:t>
            </a:r>
            <a:endParaRPr/>
          </a:p>
        </p:txBody>
      </p:sp>
      <p:sp>
        <p:nvSpPr>
          <p:cNvPr id="315" name="Google Shape;315;p8"/>
          <p:cNvSpPr txBox="1"/>
          <p:nvPr/>
        </p:nvSpPr>
        <p:spPr>
          <a:xfrm>
            <a:off x="695325" y="2809726"/>
            <a:ext cx="108013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0BE7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FINITE STATE MACHINE (ACCOUNT LIFECYCLE)</a:t>
            </a:r>
            <a:endParaRPr/>
          </a:p>
        </p:txBody>
      </p:sp>
      <p:sp>
        <p:nvSpPr>
          <p:cNvPr id="316" name="Google Shape;316;p8"/>
          <p:cNvSpPr txBox="1"/>
          <p:nvPr/>
        </p:nvSpPr>
        <p:spPr>
          <a:xfrm>
            <a:off x="695325" y="3038326"/>
            <a:ext cx="10801350" cy="4822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7" u="none" cap="none" strike="noStrik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[Customer Applies] ──► PENDING_APPROVAL ──(Staff Rejects)──► REJECTED (Terminated) │ (Staff Approves) ▼ ACTIVE ◄──────────────┐ │ │ (Staff Freezes) (Staff Unfreezes) ▼ │ FROZEN ───────────────┘ (Debits strictly blocked)</a:t>
            </a:r>
            <a:endParaRPr/>
          </a:p>
        </p:txBody>
      </p:sp>
      <p:sp>
        <p:nvSpPr>
          <p:cNvPr id="317" name="Google Shape;317;p8"/>
          <p:cNvSpPr txBox="1"/>
          <p:nvPr/>
        </p:nvSpPr>
        <p:spPr>
          <a:xfrm>
            <a:off x="619125" y="3996779"/>
            <a:ext cx="187062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0B1220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1. Source Check</a:t>
            </a:r>
            <a:endParaRPr/>
          </a:p>
        </p:txBody>
      </p:sp>
      <p:sp>
        <p:nvSpPr>
          <p:cNvPr id="318" name="Google Shape;318;p8"/>
          <p:cNvSpPr txBox="1"/>
          <p:nvPr/>
        </p:nvSpPr>
        <p:spPr>
          <a:xfrm>
            <a:off x="619125" y="4244429"/>
            <a:ext cx="1870620" cy="3789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Must be (reject if or ).</a:t>
            </a:r>
            <a:endParaRPr/>
          </a:p>
        </p:txBody>
      </p:sp>
      <p:sp>
        <p:nvSpPr>
          <p:cNvPr id="319" name="Google Shape;319;p8"/>
          <p:cNvSpPr txBox="1"/>
          <p:nvPr/>
        </p:nvSpPr>
        <p:spPr>
          <a:xfrm>
            <a:off x="2889795" y="3996779"/>
            <a:ext cx="1870769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0B1220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2. Self-Transfer</a:t>
            </a:r>
            <a:endParaRPr/>
          </a:p>
        </p:txBody>
      </p:sp>
      <p:sp>
        <p:nvSpPr>
          <p:cNvPr id="320" name="Google Shape;320;p8"/>
          <p:cNvSpPr txBox="1"/>
          <p:nvPr/>
        </p:nvSpPr>
        <p:spPr>
          <a:xfrm>
            <a:off x="2889795" y="4244429"/>
            <a:ext cx="1870769" cy="359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Destination cannot equal source account.</a:t>
            </a:r>
            <a:endParaRPr/>
          </a:p>
        </p:txBody>
      </p:sp>
      <p:sp>
        <p:nvSpPr>
          <p:cNvPr id="321" name="Google Shape;321;p8"/>
          <p:cNvSpPr txBox="1"/>
          <p:nvPr/>
        </p:nvSpPr>
        <p:spPr>
          <a:xfrm>
            <a:off x="5160615" y="3996779"/>
            <a:ext cx="187062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0B1220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3. Daily Guard</a:t>
            </a:r>
            <a:endParaRPr/>
          </a:p>
        </p:txBody>
      </p:sp>
      <p:sp>
        <p:nvSpPr>
          <p:cNvPr id="322" name="Google Shape;322;p8"/>
          <p:cNvSpPr txBox="1"/>
          <p:nvPr/>
        </p:nvSpPr>
        <p:spPr>
          <a:xfrm>
            <a:off x="5160615" y="4244429"/>
            <a:ext cx="1870620" cy="359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Cumulative transfers cannot exceed ₹1,00,000.</a:t>
            </a:r>
            <a:endParaRPr/>
          </a:p>
        </p:txBody>
      </p:sp>
      <p:sp>
        <p:nvSpPr>
          <p:cNvPr id="323" name="Google Shape;323;p8"/>
          <p:cNvSpPr txBox="1"/>
          <p:nvPr/>
        </p:nvSpPr>
        <p:spPr>
          <a:xfrm>
            <a:off x="7431285" y="3996779"/>
            <a:ext cx="1870769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0B1220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4. Min Balance</a:t>
            </a:r>
            <a:endParaRPr/>
          </a:p>
        </p:txBody>
      </p:sp>
      <p:sp>
        <p:nvSpPr>
          <p:cNvPr id="324" name="Google Shape;324;p8"/>
          <p:cNvSpPr txBox="1"/>
          <p:nvPr/>
        </p:nvSpPr>
        <p:spPr>
          <a:xfrm>
            <a:off x="7431285" y="4244429"/>
            <a:ext cx="1870800" cy="1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Minimum Balance threshold.</a:t>
            </a:r>
            <a:endParaRPr/>
          </a:p>
        </p:txBody>
      </p:sp>
      <p:sp>
        <p:nvSpPr>
          <p:cNvPr id="325" name="Google Shape;325;p8"/>
          <p:cNvSpPr txBox="1"/>
          <p:nvPr/>
        </p:nvSpPr>
        <p:spPr>
          <a:xfrm>
            <a:off x="9702105" y="3996779"/>
            <a:ext cx="187062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0B1220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5. AML Policy</a:t>
            </a:r>
            <a:endParaRPr/>
          </a:p>
        </p:txBody>
      </p:sp>
      <p:sp>
        <p:nvSpPr>
          <p:cNvPr id="326" name="Google Shape;326;p8"/>
          <p:cNvSpPr txBox="1"/>
          <p:nvPr/>
        </p:nvSpPr>
        <p:spPr>
          <a:xfrm>
            <a:off x="9702105" y="4244429"/>
            <a:ext cx="1870620" cy="3789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If , set .</a:t>
            </a:r>
            <a:endParaRPr/>
          </a:p>
        </p:txBody>
      </p:sp>
      <p:pic>
        <p:nvPicPr>
          <p:cNvPr descr="image.png" id="327" name="Google Shape;327;p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43000" y="4215850"/>
            <a:ext cx="6858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8" name="Google Shape;328;p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19125" y="4405312"/>
            <a:ext cx="609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9" name="Google Shape;329;p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428750" y="4405312"/>
            <a:ext cx="6858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0" name="Google Shape;330;p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533235" y="4444454"/>
            <a:ext cx="15240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1" name="Google Shape;331;p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816405" y="4215854"/>
            <a:ext cx="1296441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2" name="Google Shape;332;p8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9702105" y="4405312"/>
            <a:ext cx="12192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8"/>
          <p:cNvSpPr txBox="1"/>
          <p:nvPr/>
        </p:nvSpPr>
        <p:spPr>
          <a:xfrm>
            <a:off x="476250" y="285750"/>
            <a:ext cx="11239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C6319"/>
                </a:solidFill>
                <a:latin typeface="DM Sans"/>
                <a:ea typeface="DM Sans"/>
                <a:cs typeface="DM Sans"/>
                <a:sym typeface="DM Sans"/>
              </a:rPr>
              <a:t>07 — STATE MACHINES</a:t>
            </a:r>
            <a:r>
              <a:rPr b="0" i="0" lang="en-US" sz="1200" u="none" cap="none" strike="noStrike">
                <a:solidFill>
                  <a:srgbClr val="1A223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/>
          </a:p>
        </p:txBody>
      </p:sp>
      <p:sp>
        <p:nvSpPr>
          <p:cNvPr id="334" name="Google Shape;334;p8"/>
          <p:cNvSpPr txBox="1"/>
          <p:nvPr/>
        </p:nvSpPr>
        <p:spPr>
          <a:xfrm>
            <a:off x="476250" y="689523"/>
            <a:ext cx="11715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B1220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State Transition Models &amp; Validation Rules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9" name="Google Shape;33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0" name="Google Shape;34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1816298"/>
            <a:ext cx="11239500" cy="3781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1" name="Google Shape;341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250" y="6362700"/>
            <a:ext cx="112395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9"/>
          <p:cNvSpPr txBox="1"/>
          <p:nvPr/>
        </p:nvSpPr>
        <p:spPr>
          <a:xfrm>
            <a:off x="476250" y="6467475"/>
            <a:ext cx="21907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37082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Endpoint Testing &amp; Verification Matrix</a:t>
            </a:r>
            <a:endParaRPr/>
          </a:p>
        </p:txBody>
      </p:sp>
      <p:sp>
        <p:nvSpPr>
          <p:cNvPr id="343" name="Google Shape;343;p9"/>
          <p:cNvSpPr txBox="1"/>
          <p:nvPr/>
        </p:nvSpPr>
        <p:spPr>
          <a:xfrm>
            <a:off x="11239500" y="6467475"/>
            <a:ext cx="4762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37082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Slide 09</a:t>
            </a:r>
            <a:endParaRPr/>
          </a:p>
        </p:txBody>
      </p:sp>
      <p:graphicFrame>
        <p:nvGraphicFramePr>
          <p:cNvPr id="344" name="Google Shape;344;p9"/>
          <p:cNvGraphicFramePr/>
          <p:nvPr/>
        </p:nvGraphicFramePr>
        <p:xfrm>
          <a:off x="485775" y="182582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{E2F1A4B2-B122-469A-BDA7-AFCB6816E159}</a:tableStyleId>
              </a:tblPr>
              <a:tblGrid>
                <a:gridCol w="2692900"/>
                <a:gridCol w="1346450"/>
                <a:gridCol w="3141600"/>
                <a:gridCol w="4039500"/>
              </a:tblGrid>
              <a:tr h="627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FCF9F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DEMONSTRATED WORKFLOW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FCF9F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HTTP STATUS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FCF9F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RESPONSE / RESULT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FCF9F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CONTROL DEMONSTRATED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220"/>
                    </a:solidFill>
                  </a:tcPr>
                </a:tc>
              </a:tr>
              <a:tr h="627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8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Happy Path Transfer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200 OK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Dual ledger records + updated balanceAfter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POST /api/transactions/transfer with two account numbers and ₹2,500.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7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8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Minimum Balance Violation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400 Bad Req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MINIMUM_BALANCE_VIOLATION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Transfer violating ₹1,00,0 threshold returns maximum transferable amount.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BF7"/>
                    </a:solidFill>
                  </a:tcPr>
                </a:tc>
              </a:tr>
              <a:tr h="627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8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Frozen Account Transfer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403 Forbidden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ACCOUNT_FROZEN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Outgoing debit blocked on non-active account.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7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8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RBAC Role Violation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403 Forbidden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FORBIDDEN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Customer token rejected when accessing /api/staff/dashboard.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BF7"/>
                    </a:solidFill>
                  </a:tcPr>
                </a:tc>
              </a:tr>
              <a:tr h="627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8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Missing Fields Validation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400 Bad Req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Custom validator response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Malformed payload caught cleanly by custom validator without server crash.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5" name="Google Shape;345;p9"/>
          <p:cNvSpPr/>
          <p:nvPr/>
        </p:nvSpPr>
        <p:spPr>
          <a:xfrm>
            <a:off x="485775" y="2244923"/>
            <a:ext cx="2692896" cy="1905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9"/>
          <p:cNvSpPr/>
          <p:nvPr/>
        </p:nvSpPr>
        <p:spPr>
          <a:xfrm>
            <a:off x="3178671" y="2244923"/>
            <a:ext cx="1346448" cy="1905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9"/>
          <p:cNvSpPr/>
          <p:nvPr/>
        </p:nvSpPr>
        <p:spPr>
          <a:xfrm>
            <a:off x="4525119" y="2244923"/>
            <a:ext cx="3141612" cy="1905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9"/>
          <p:cNvSpPr/>
          <p:nvPr/>
        </p:nvSpPr>
        <p:spPr>
          <a:xfrm>
            <a:off x="7666732" y="2244923"/>
            <a:ext cx="4039492" cy="1905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9"/>
          <p:cNvSpPr/>
          <p:nvPr/>
        </p:nvSpPr>
        <p:spPr>
          <a:xfrm>
            <a:off x="485775" y="2878335"/>
            <a:ext cx="2692896" cy="9525"/>
          </a:xfrm>
          <a:prstGeom prst="rect">
            <a:avLst/>
          </a:prstGeom>
          <a:solidFill>
            <a:srgbClr val="F3EC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9"/>
          <p:cNvSpPr/>
          <p:nvPr/>
        </p:nvSpPr>
        <p:spPr>
          <a:xfrm>
            <a:off x="3178671" y="2878335"/>
            <a:ext cx="1346448" cy="9525"/>
          </a:xfrm>
          <a:prstGeom prst="rect">
            <a:avLst/>
          </a:prstGeom>
          <a:solidFill>
            <a:srgbClr val="F3EC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9"/>
          <p:cNvSpPr/>
          <p:nvPr/>
        </p:nvSpPr>
        <p:spPr>
          <a:xfrm>
            <a:off x="4525119" y="2878335"/>
            <a:ext cx="3141612" cy="9525"/>
          </a:xfrm>
          <a:prstGeom prst="rect">
            <a:avLst/>
          </a:prstGeom>
          <a:solidFill>
            <a:srgbClr val="F3EC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9"/>
          <p:cNvSpPr/>
          <p:nvPr/>
        </p:nvSpPr>
        <p:spPr>
          <a:xfrm>
            <a:off x="7666732" y="2878335"/>
            <a:ext cx="4039492" cy="9525"/>
          </a:xfrm>
          <a:prstGeom prst="rect">
            <a:avLst/>
          </a:prstGeom>
          <a:solidFill>
            <a:srgbClr val="F3EC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9"/>
          <p:cNvSpPr/>
          <p:nvPr/>
        </p:nvSpPr>
        <p:spPr>
          <a:xfrm>
            <a:off x="485775" y="3554610"/>
            <a:ext cx="2692896" cy="9525"/>
          </a:xfrm>
          <a:prstGeom prst="rect">
            <a:avLst/>
          </a:prstGeom>
          <a:solidFill>
            <a:srgbClr val="F3EC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9"/>
          <p:cNvSpPr/>
          <p:nvPr/>
        </p:nvSpPr>
        <p:spPr>
          <a:xfrm>
            <a:off x="3178671" y="3554610"/>
            <a:ext cx="1346448" cy="9525"/>
          </a:xfrm>
          <a:prstGeom prst="rect">
            <a:avLst/>
          </a:prstGeom>
          <a:solidFill>
            <a:srgbClr val="F3EC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9"/>
          <p:cNvSpPr/>
          <p:nvPr/>
        </p:nvSpPr>
        <p:spPr>
          <a:xfrm>
            <a:off x="4525119" y="3554610"/>
            <a:ext cx="3141612" cy="9525"/>
          </a:xfrm>
          <a:prstGeom prst="rect">
            <a:avLst/>
          </a:prstGeom>
          <a:solidFill>
            <a:srgbClr val="F3EC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9"/>
          <p:cNvSpPr/>
          <p:nvPr/>
        </p:nvSpPr>
        <p:spPr>
          <a:xfrm>
            <a:off x="7666732" y="3554610"/>
            <a:ext cx="4039492" cy="9525"/>
          </a:xfrm>
          <a:prstGeom prst="rect">
            <a:avLst/>
          </a:prstGeom>
          <a:solidFill>
            <a:srgbClr val="F3EC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9"/>
          <p:cNvSpPr/>
          <p:nvPr/>
        </p:nvSpPr>
        <p:spPr>
          <a:xfrm>
            <a:off x="485775" y="4230885"/>
            <a:ext cx="2692896" cy="9525"/>
          </a:xfrm>
          <a:prstGeom prst="rect">
            <a:avLst/>
          </a:prstGeom>
          <a:solidFill>
            <a:srgbClr val="F3EC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9"/>
          <p:cNvSpPr/>
          <p:nvPr/>
        </p:nvSpPr>
        <p:spPr>
          <a:xfrm>
            <a:off x="3178671" y="4230885"/>
            <a:ext cx="1346448" cy="9525"/>
          </a:xfrm>
          <a:prstGeom prst="rect">
            <a:avLst/>
          </a:prstGeom>
          <a:solidFill>
            <a:srgbClr val="F3EC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9"/>
          <p:cNvSpPr/>
          <p:nvPr/>
        </p:nvSpPr>
        <p:spPr>
          <a:xfrm>
            <a:off x="4525119" y="4230885"/>
            <a:ext cx="3141612" cy="9525"/>
          </a:xfrm>
          <a:prstGeom prst="rect">
            <a:avLst/>
          </a:prstGeom>
          <a:solidFill>
            <a:srgbClr val="F3EC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9"/>
          <p:cNvSpPr/>
          <p:nvPr/>
        </p:nvSpPr>
        <p:spPr>
          <a:xfrm>
            <a:off x="7666732" y="4230885"/>
            <a:ext cx="4039492" cy="9525"/>
          </a:xfrm>
          <a:prstGeom prst="rect">
            <a:avLst/>
          </a:prstGeom>
          <a:solidFill>
            <a:srgbClr val="F3EC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9"/>
          <p:cNvSpPr/>
          <p:nvPr/>
        </p:nvSpPr>
        <p:spPr>
          <a:xfrm>
            <a:off x="485775" y="4907160"/>
            <a:ext cx="2692896" cy="9525"/>
          </a:xfrm>
          <a:prstGeom prst="rect">
            <a:avLst/>
          </a:prstGeom>
          <a:solidFill>
            <a:srgbClr val="F3EC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9"/>
          <p:cNvSpPr/>
          <p:nvPr/>
        </p:nvSpPr>
        <p:spPr>
          <a:xfrm>
            <a:off x="3178671" y="4907160"/>
            <a:ext cx="1346448" cy="9525"/>
          </a:xfrm>
          <a:prstGeom prst="rect">
            <a:avLst/>
          </a:prstGeom>
          <a:solidFill>
            <a:srgbClr val="F3EC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9"/>
          <p:cNvSpPr/>
          <p:nvPr/>
        </p:nvSpPr>
        <p:spPr>
          <a:xfrm>
            <a:off x="4525119" y="4907160"/>
            <a:ext cx="3141612" cy="9525"/>
          </a:xfrm>
          <a:prstGeom prst="rect">
            <a:avLst/>
          </a:prstGeom>
          <a:solidFill>
            <a:srgbClr val="F3EC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9"/>
          <p:cNvSpPr/>
          <p:nvPr/>
        </p:nvSpPr>
        <p:spPr>
          <a:xfrm>
            <a:off x="7666732" y="4907160"/>
            <a:ext cx="4039492" cy="9525"/>
          </a:xfrm>
          <a:prstGeom prst="rect">
            <a:avLst/>
          </a:prstGeom>
          <a:solidFill>
            <a:srgbClr val="F3EC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9"/>
          <p:cNvSpPr txBox="1"/>
          <p:nvPr/>
        </p:nvSpPr>
        <p:spPr>
          <a:xfrm>
            <a:off x="476250" y="285750"/>
            <a:ext cx="11239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C6319"/>
                </a:solidFill>
                <a:latin typeface="DM Sans"/>
                <a:ea typeface="DM Sans"/>
                <a:cs typeface="DM Sans"/>
                <a:sym typeface="DM Sans"/>
              </a:rPr>
              <a:t>08 — API VERIFICATION</a:t>
            </a:r>
            <a:r>
              <a:rPr b="0" i="0" lang="en-US" sz="1200" u="none" cap="none" strike="noStrike">
                <a:solidFill>
                  <a:srgbClr val="1A223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/>
          </a:p>
        </p:txBody>
      </p:sp>
      <p:sp>
        <p:nvSpPr>
          <p:cNvPr id="366" name="Google Shape;366;p9"/>
          <p:cNvSpPr txBox="1"/>
          <p:nvPr/>
        </p:nvSpPr>
        <p:spPr>
          <a:xfrm>
            <a:off x="476250" y="570674"/>
            <a:ext cx="11715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B1220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API Demonstration &amp; Negative Edge Case Assertions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1" name="Google Shape;37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2" name="Google Shape;37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4736157"/>
            <a:ext cx="11239500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3" name="Google Shape;373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250" y="2115889"/>
            <a:ext cx="3619500" cy="24678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4" name="Google Shape;374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86250" y="2115889"/>
            <a:ext cx="3619500" cy="24678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5" name="Google Shape;375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250" y="2115889"/>
            <a:ext cx="3619500" cy="24678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6" name="Google Shape;376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50" y="6362700"/>
            <a:ext cx="112395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10"/>
          <p:cNvSpPr txBox="1"/>
          <p:nvPr/>
        </p:nvSpPr>
        <p:spPr>
          <a:xfrm>
            <a:off x="476250" y="6467475"/>
            <a:ext cx="20859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37082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Full-Stack Presentation Experience</a:t>
            </a:r>
            <a:endParaRPr/>
          </a:p>
        </p:txBody>
      </p:sp>
      <p:sp>
        <p:nvSpPr>
          <p:cNvPr id="378" name="Google Shape;378;p10"/>
          <p:cNvSpPr txBox="1"/>
          <p:nvPr/>
        </p:nvSpPr>
        <p:spPr>
          <a:xfrm>
            <a:off x="11277600" y="6467475"/>
            <a:ext cx="4381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37082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Slide 10</a:t>
            </a:r>
            <a:endParaRPr/>
          </a:p>
        </p:txBody>
      </p:sp>
      <p:sp>
        <p:nvSpPr>
          <p:cNvPr id="379" name="Google Shape;379;p10"/>
          <p:cNvSpPr txBox="1"/>
          <p:nvPr/>
        </p:nvSpPr>
        <p:spPr>
          <a:xfrm>
            <a:off x="752475" y="4898082"/>
            <a:ext cx="59626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F1F5F9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The interface is not decoration; it is the operational surface for the rules underneath.</a:t>
            </a:r>
            <a:endParaRPr/>
          </a:p>
        </p:txBody>
      </p:sp>
      <p:sp>
        <p:nvSpPr>
          <p:cNvPr id="380" name="Google Shape;380;p10"/>
          <p:cNvSpPr txBox="1"/>
          <p:nvPr/>
        </p:nvSpPr>
        <p:spPr>
          <a:xfrm>
            <a:off x="6781800" y="4940944"/>
            <a:ext cx="46958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0BE7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CREAM &amp; CHAMPAGNE GOLD · EB GARAMOND · GENEROUS WHITESPACE</a:t>
            </a:r>
            <a:endParaRPr/>
          </a:p>
        </p:txBody>
      </p:sp>
      <p:sp>
        <p:nvSpPr>
          <p:cNvPr id="381" name="Google Shape;381;p10"/>
          <p:cNvSpPr txBox="1"/>
          <p:nvPr/>
        </p:nvSpPr>
        <p:spPr>
          <a:xfrm>
            <a:off x="695325" y="2344489"/>
            <a:ext cx="31813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8C631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SURFACE 01</a:t>
            </a:r>
            <a:endParaRPr/>
          </a:p>
        </p:txBody>
      </p:sp>
      <p:sp>
        <p:nvSpPr>
          <p:cNvPr id="382" name="Google Shape;382;p10"/>
          <p:cNvSpPr txBox="1"/>
          <p:nvPr/>
        </p:nvSpPr>
        <p:spPr>
          <a:xfrm>
            <a:off x="695325" y="2554039"/>
            <a:ext cx="334041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B1220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Landing &amp; Auth Portal</a:t>
            </a:r>
            <a:endParaRPr/>
          </a:p>
        </p:txBody>
      </p:sp>
      <p:sp>
        <p:nvSpPr>
          <p:cNvPr id="383" name="Google Shape;383;p10"/>
          <p:cNvSpPr/>
          <p:nvPr/>
        </p:nvSpPr>
        <p:spPr>
          <a:xfrm>
            <a:off x="695325" y="2906464"/>
            <a:ext cx="3181350" cy="9525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0"/>
          <p:cNvSpPr txBox="1"/>
          <p:nvPr/>
        </p:nvSpPr>
        <p:spPr>
          <a:xfrm>
            <a:off x="4505325" y="2344489"/>
            <a:ext cx="31813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8C631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SURFACE 02</a:t>
            </a:r>
            <a:endParaRPr/>
          </a:p>
        </p:txBody>
      </p:sp>
      <p:sp>
        <p:nvSpPr>
          <p:cNvPr id="385" name="Google Shape;385;p10"/>
          <p:cNvSpPr txBox="1"/>
          <p:nvPr/>
        </p:nvSpPr>
        <p:spPr>
          <a:xfrm>
            <a:off x="4505325" y="2554039"/>
            <a:ext cx="334041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B1220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Customer Banking Console</a:t>
            </a:r>
            <a:endParaRPr/>
          </a:p>
        </p:txBody>
      </p:sp>
      <p:sp>
        <p:nvSpPr>
          <p:cNvPr id="386" name="Google Shape;386;p10"/>
          <p:cNvSpPr/>
          <p:nvPr/>
        </p:nvSpPr>
        <p:spPr>
          <a:xfrm>
            <a:off x="4505325" y="2906464"/>
            <a:ext cx="3181350" cy="9525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0"/>
          <p:cNvSpPr txBox="1"/>
          <p:nvPr/>
        </p:nvSpPr>
        <p:spPr>
          <a:xfrm>
            <a:off x="8315325" y="2344489"/>
            <a:ext cx="31813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8C631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SURFACE 03</a:t>
            </a:r>
            <a:endParaRPr/>
          </a:p>
        </p:txBody>
      </p:sp>
      <p:sp>
        <p:nvSpPr>
          <p:cNvPr id="388" name="Google Shape;388;p10"/>
          <p:cNvSpPr txBox="1"/>
          <p:nvPr/>
        </p:nvSpPr>
        <p:spPr>
          <a:xfrm>
            <a:off x="8315325" y="2554039"/>
            <a:ext cx="334041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B1220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Staff Operations Console</a:t>
            </a:r>
            <a:endParaRPr/>
          </a:p>
        </p:txBody>
      </p:sp>
      <p:sp>
        <p:nvSpPr>
          <p:cNvPr id="389" name="Google Shape;389;p10"/>
          <p:cNvSpPr/>
          <p:nvPr/>
        </p:nvSpPr>
        <p:spPr>
          <a:xfrm>
            <a:off x="8315325" y="2906464"/>
            <a:ext cx="3181350" cy="9525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0"/>
          <p:cNvSpPr txBox="1"/>
          <p:nvPr/>
        </p:nvSpPr>
        <p:spPr>
          <a:xfrm>
            <a:off x="828675" y="3011239"/>
            <a:ext cx="3048000" cy="400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Live role switchers (, , ).</a:t>
            </a:r>
            <a:endParaRPr/>
          </a:p>
        </p:txBody>
      </p:sp>
      <p:sp>
        <p:nvSpPr>
          <p:cNvPr id="391" name="Google Shape;391;p10"/>
          <p:cNvSpPr txBox="1"/>
          <p:nvPr/>
        </p:nvSpPr>
        <p:spPr>
          <a:xfrm>
            <a:off x="828675" y="3468737"/>
            <a:ext cx="3048000" cy="400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Dynamic JWT issue modals for live demo testing.</a:t>
            </a:r>
            <a:endParaRPr/>
          </a:p>
        </p:txBody>
      </p:sp>
      <p:sp>
        <p:nvSpPr>
          <p:cNvPr id="392" name="Google Shape;392;p10"/>
          <p:cNvSpPr txBox="1"/>
          <p:nvPr/>
        </p:nvSpPr>
        <p:spPr>
          <a:xfrm>
            <a:off x="828675" y="3926234"/>
            <a:ext cx="3048000" cy="400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Encrypted session token storage with auto-refresh.</a:t>
            </a:r>
            <a:endParaRPr/>
          </a:p>
        </p:txBody>
      </p:sp>
      <p:sp>
        <p:nvSpPr>
          <p:cNvPr id="393" name="Google Shape;393;p10"/>
          <p:cNvSpPr txBox="1"/>
          <p:nvPr/>
        </p:nvSpPr>
        <p:spPr>
          <a:xfrm>
            <a:off x="4638675" y="3011239"/>
            <a:ext cx="3048000" cy="400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Live account summary cards with real-time balances.</a:t>
            </a:r>
            <a:endParaRPr/>
          </a:p>
        </p:txBody>
      </p:sp>
      <p:sp>
        <p:nvSpPr>
          <p:cNvPr id="394" name="Google Shape;394;p10"/>
          <p:cNvSpPr txBox="1"/>
          <p:nvPr/>
        </p:nvSpPr>
        <p:spPr>
          <a:xfrm>
            <a:off x="4638675" y="3468737"/>
            <a:ext cx="3048000" cy="400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Quick-transfer modal with beneficiary dropdown list.</a:t>
            </a:r>
            <a:endParaRPr/>
          </a:p>
        </p:txBody>
      </p:sp>
      <p:sp>
        <p:nvSpPr>
          <p:cNvPr id="395" name="Google Shape;395;p10"/>
          <p:cNvSpPr txBox="1"/>
          <p:nvPr/>
        </p:nvSpPr>
        <p:spPr>
          <a:xfrm>
            <a:off x="4638675" y="3926234"/>
            <a:ext cx="3048000" cy="2001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Real-time immutable transaction ledger table.</a:t>
            </a:r>
            <a:endParaRPr/>
          </a:p>
        </p:txBody>
      </p:sp>
      <p:sp>
        <p:nvSpPr>
          <p:cNvPr id="396" name="Google Shape;396;p10"/>
          <p:cNvSpPr txBox="1"/>
          <p:nvPr/>
        </p:nvSpPr>
        <p:spPr>
          <a:xfrm>
            <a:off x="8448675" y="3011239"/>
            <a:ext cx="3048000" cy="400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Pending KYC applications queue with single-click actions.</a:t>
            </a:r>
            <a:endParaRPr/>
          </a:p>
        </p:txBody>
      </p:sp>
      <p:sp>
        <p:nvSpPr>
          <p:cNvPr id="397" name="Google Shape;397;p10"/>
          <p:cNvSpPr txBox="1"/>
          <p:nvPr/>
        </p:nvSpPr>
        <p:spPr>
          <a:xfrm>
            <a:off x="8448675" y="3468737"/>
            <a:ext cx="3048000" cy="400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Suspicious AML transaction queue with dismiss workflow.</a:t>
            </a:r>
            <a:endParaRPr/>
          </a:p>
        </p:txBody>
      </p:sp>
      <p:sp>
        <p:nvSpPr>
          <p:cNvPr id="398" name="Google Shape;398;p10"/>
          <p:cNvSpPr txBox="1"/>
          <p:nvPr/>
        </p:nvSpPr>
        <p:spPr>
          <a:xfrm>
            <a:off x="8448675" y="3926234"/>
            <a:ext cx="3048000" cy="400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Administrative security freeze and unfreeze controls.</a:t>
            </a:r>
            <a:endParaRPr/>
          </a:p>
        </p:txBody>
      </p:sp>
      <p:sp>
        <p:nvSpPr>
          <p:cNvPr id="399" name="Google Shape;399;p10"/>
          <p:cNvSpPr txBox="1"/>
          <p:nvPr/>
        </p:nvSpPr>
        <p:spPr>
          <a:xfrm>
            <a:off x="695325" y="3011239"/>
            <a:ext cx="381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5A05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pic>
        <p:nvPicPr>
          <p:cNvPr descr="image.png" id="400" name="Google Shape;400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85975" y="2992189"/>
            <a:ext cx="7620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1" name="Google Shape;401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914650" y="2992189"/>
            <a:ext cx="5334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2" name="Google Shape;402;p1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28675" y="3192363"/>
            <a:ext cx="5334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10"/>
          <p:cNvSpPr txBox="1"/>
          <p:nvPr/>
        </p:nvSpPr>
        <p:spPr>
          <a:xfrm>
            <a:off x="695325" y="3468737"/>
            <a:ext cx="381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5A05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404" name="Google Shape;404;p10"/>
          <p:cNvSpPr txBox="1"/>
          <p:nvPr/>
        </p:nvSpPr>
        <p:spPr>
          <a:xfrm>
            <a:off x="695325" y="3926234"/>
            <a:ext cx="381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5A05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405" name="Google Shape;405;p10"/>
          <p:cNvSpPr txBox="1"/>
          <p:nvPr/>
        </p:nvSpPr>
        <p:spPr>
          <a:xfrm>
            <a:off x="4505325" y="3011239"/>
            <a:ext cx="381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5A05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406" name="Google Shape;406;p10"/>
          <p:cNvSpPr txBox="1"/>
          <p:nvPr/>
        </p:nvSpPr>
        <p:spPr>
          <a:xfrm>
            <a:off x="4505325" y="3468737"/>
            <a:ext cx="381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5A05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407" name="Google Shape;407;p10"/>
          <p:cNvSpPr txBox="1"/>
          <p:nvPr/>
        </p:nvSpPr>
        <p:spPr>
          <a:xfrm>
            <a:off x="4505325" y="3926234"/>
            <a:ext cx="381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5A05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408" name="Google Shape;408;p10"/>
          <p:cNvSpPr txBox="1"/>
          <p:nvPr/>
        </p:nvSpPr>
        <p:spPr>
          <a:xfrm>
            <a:off x="8315325" y="3011239"/>
            <a:ext cx="381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5A05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409" name="Google Shape;409;p10"/>
          <p:cNvSpPr txBox="1"/>
          <p:nvPr/>
        </p:nvSpPr>
        <p:spPr>
          <a:xfrm>
            <a:off x="8315325" y="3468737"/>
            <a:ext cx="381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5A05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410" name="Google Shape;410;p10"/>
          <p:cNvSpPr txBox="1"/>
          <p:nvPr/>
        </p:nvSpPr>
        <p:spPr>
          <a:xfrm>
            <a:off x="8315325" y="3926234"/>
            <a:ext cx="381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5A05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411" name="Google Shape;411;p10"/>
          <p:cNvSpPr txBox="1"/>
          <p:nvPr/>
        </p:nvSpPr>
        <p:spPr>
          <a:xfrm>
            <a:off x="476250" y="285750"/>
            <a:ext cx="11239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C6319"/>
                </a:solidFill>
                <a:latin typeface="DM Sans"/>
                <a:ea typeface="DM Sans"/>
                <a:cs typeface="DM Sans"/>
                <a:sym typeface="DM Sans"/>
              </a:rPr>
              <a:t>09 — WEB APPLICATION</a:t>
            </a:r>
            <a:r>
              <a:rPr b="0" i="0" lang="en-US" sz="1200" u="none" cap="none" strike="noStrike">
                <a:solidFill>
                  <a:srgbClr val="1A223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/>
          </a:p>
        </p:txBody>
      </p:sp>
      <p:sp>
        <p:nvSpPr>
          <p:cNvPr id="412" name="Google Shape;412;p10"/>
          <p:cNvSpPr txBox="1"/>
          <p:nvPr/>
        </p:nvSpPr>
        <p:spPr>
          <a:xfrm>
            <a:off x="476250" y="498749"/>
            <a:ext cx="11715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B1220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Interactive Enterprise Web Application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7" name="Google Shape;417;g38b9b130855_2_7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g38b9b130855_2_702"/>
          <p:cNvSpPr/>
          <p:nvPr/>
        </p:nvSpPr>
        <p:spPr>
          <a:xfrm>
            <a:off x="476250" y="6362700"/>
            <a:ext cx="1123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9" name="Google Shape;419;g38b9b130855_2_70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6362700"/>
            <a:ext cx="112395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g38b9b130855_2_702"/>
          <p:cNvSpPr txBox="1"/>
          <p:nvPr/>
        </p:nvSpPr>
        <p:spPr>
          <a:xfrm>
            <a:off x="476250" y="6467475"/>
            <a:ext cx="3810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75">
                <a:solidFill>
                  <a:srgbClr val="637082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Team 30 · Engineering Retro &amp; Synthesis</a:t>
            </a:r>
            <a:endParaRPr b="0" sz="975">
              <a:solidFill>
                <a:srgbClr val="637082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421" name="Google Shape;421;g38b9b130855_2_702"/>
          <p:cNvSpPr txBox="1"/>
          <p:nvPr/>
        </p:nvSpPr>
        <p:spPr>
          <a:xfrm>
            <a:off x="476250" y="285750"/>
            <a:ext cx="11239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8C6319"/>
                </a:solidFill>
                <a:latin typeface="DM Sans"/>
                <a:ea typeface="DM Sans"/>
                <a:cs typeface="DM Sans"/>
                <a:sym typeface="DM Sans"/>
              </a:rPr>
              <a:t>10 — CHALLENGES &amp; CONCLUSION </a:t>
            </a:r>
            <a:endParaRPr b="1" sz="1200">
              <a:solidFill>
                <a:srgbClr val="8C631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22" name="Google Shape;422;g38b9b130855_2_702"/>
          <p:cNvSpPr txBox="1"/>
          <p:nvPr/>
        </p:nvSpPr>
        <p:spPr>
          <a:xfrm>
            <a:off x="476250" y="582900"/>
            <a:ext cx="112395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>
                <a:solidFill>
                  <a:srgbClr val="0B1220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Key Learnings, Engineering Challenges &amp; Conclusion</a:t>
            </a:r>
            <a:endParaRPr b="0" sz="2700">
              <a:solidFill>
                <a:srgbClr val="0B1220"/>
              </a:solidFill>
              <a:latin typeface="EB Garamond SemiBold"/>
              <a:ea typeface="EB Garamond SemiBold"/>
              <a:cs typeface="EB Garamond SemiBold"/>
              <a:sym typeface="EB Garamond SemiBold"/>
            </a:endParaRPr>
          </a:p>
        </p:txBody>
      </p:sp>
      <p:grpSp>
        <p:nvGrpSpPr>
          <p:cNvPr id="423" name="Google Shape;423;g38b9b130855_2_702"/>
          <p:cNvGrpSpPr/>
          <p:nvPr/>
        </p:nvGrpSpPr>
        <p:grpSpPr>
          <a:xfrm>
            <a:off x="476250" y="2095500"/>
            <a:ext cx="3486300" cy="2667000"/>
            <a:chOff x="0" y="0"/>
            <a:chExt cx="3486300" cy="2667000"/>
          </a:xfrm>
        </p:grpSpPr>
        <p:sp>
          <p:nvSpPr>
            <p:cNvPr id="424" name="Google Shape;424;g38b9b130855_2_702"/>
            <p:cNvSpPr/>
            <p:nvPr/>
          </p:nvSpPr>
          <p:spPr>
            <a:xfrm>
              <a:off x="0" y="0"/>
              <a:ext cx="3486300" cy="2667000"/>
            </a:xfrm>
            <a:prstGeom prst="roundRect">
              <a:avLst>
                <a:gd fmla="val 285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g38b9b130855_2_702"/>
            <p:cNvSpPr/>
            <p:nvPr/>
          </p:nvSpPr>
          <p:spPr>
            <a:xfrm>
              <a:off x="0" y="0"/>
              <a:ext cx="57300" cy="2667000"/>
            </a:xfrm>
            <a:prstGeom prst="roundRect">
              <a:avLst>
                <a:gd fmla="val 49999" name="adj"/>
              </a:avLst>
            </a:prstGeom>
            <a:solidFill>
              <a:srgbClr val="8C631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g38b9b130855_2_702"/>
            <p:cNvSpPr txBox="1"/>
            <p:nvPr/>
          </p:nvSpPr>
          <p:spPr>
            <a:xfrm>
              <a:off x="285750" y="333375"/>
              <a:ext cx="2914800" cy="2000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8C6319"/>
                  </a:solidFill>
                  <a:latin typeface="DM Sans"/>
                  <a:ea typeface="DM Sans"/>
                  <a:cs typeface="DM Sans"/>
                  <a:sym typeface="DM Sans"/>
                </a:rPr>
                <a:t>01 / TRANSACTION INTEGRITY</a:t>
              </a:r>
              <a:endParaRPr b="1" sz="1050">
                <a:solidFill>
                  <a:srgbClr val="8C631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B1220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Atomic Balance Updates</a:t>
              </a:r>
              <a:endParaRPr b="1" sz="1050">
                <a:solidFill>
                  <a:srgbClr val="8C631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600"/>
                </a:spcAft>
                <a:buNone/>
              </a:pPr>
              <a:r>
                <a:rPr b="0" lang="en-US" sz="1150">
                  <a:solidFill>
                    <a:srgbClr val="475569"/>
                  </a:solidFill>
                  <a:latin typeface="DM Sans"/>
                  <a:ea typeface="DM Sans"/>
                  <a:cs typeface="DM Sans"/>
                  <a:sym typeface="DM Sans"/>
                </a:rPr>
                <a:t>Orchestrated independent balance updates across two separate MongoDB account documents with strict, state-aware pre-mutation validation.</a:t>
              </a:r>
              <a:endParaRPr b="1" sz="1050">
                <a:solidFill>
                  <a:srgbClr val="8C6319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427" name="Google Shape;427;g38b9b130855_2_702"/>
          <p:cNvGrpSpPr/>
          <p:nvPr/>
        </p:nvGrpSpPr>
        <p:grpSpPr>
          <a:xfrm>
            <a:off x="4343400" y="2095500"/>
            <a:ext cx="3486300" cy="2667000"/>
            <a:chOff x="0" y="0"/>
            <a:chExt cx="3486300" cy="2667000"/>
          </a:xfrm>
        </p:grpSpPr>
        <p:sp>
          <p:nvSpPr>
            <p:cNvPr id="428" name="Google Shape;428;g38b9b130855_2_702"/>
            <p:cNvSpPr/>
            <p:nvPr/>
          </p:nvSpPr>
          <p:spPr>
            <a:xfrm>
              <a:off x="0" y="0"/>
              <a:ext cx="3486300" cy="2667000"/>
            </a:xfrm>
            <a:prstGeom prst="roundRect">
              <a:avLst>
                <a:gd fmla="val 285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g38b9b130855_2_702"/>
            <p:cNvSpPr/>
            <p:nvPr/>
          </p:nvSpPr>
          <p:spPr>
            <a:xfrm>
              <a:off x="0" y="0"/>
              <a:ext cx="57300" cy="2667000"/>
            </a:xfrm>
            <a:prstGeom prst="roundRect">
              <a:avLst>
                <a:gd fmla="val 49999" name="adj"/>
              </a:avLst>
            </a:prstGeom>
            <a:solidFill>
              <a:srgbClr val="0B122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g38b9b130855_2_702"/>
            <p:cNvSpPr txBox="1"/>
            <p:nvPr/>
          </p:nvSpPr>
          <p:spPr>
            <a:xfrm>
              <a:off x="285750" y="333375"/>
              <a:ext cx="2914800" cy="2000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8C6319"/>
                  </a:solidFill>
                  <a:latin typeface="DM Sans"/>
                  <a:ea typeface="DM Sans"/>
                  <a:cs typeface="DM Sans"/>
                  <a:sym typeface="DM Sans"/>
                </a:rPr>
                <a:t>02 / DATA ARCHITECTURE</a:t>
              </a:r>
              <a:endParaRPr b="1" sz="1050">
                <a:solidFill>
                  <a:srgbClr val="8C631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B1220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Double-Entry Ledger Modeling</a:t>
              </a:r>
              <a:endParaRPr b="1" sz="1050">
                <a:solidFill>
                  <a:srgbClr val="8C631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600"/>
                </a:spcAft>
                <a:buNone/>
              </a:pPr>
              <a:r>
                <a:rPr b="0" lang="en-US" sz="1150">
                  <a:solidFill>
                    <a:srgbClr val="475569"/>
                  </a:solidFill>
                  <a:latin typeface="DM Sans"/>
                  <a:ea typeface="DM Sans"/>
                  <a:cs typeface="DM Sans"/>
                  <a:sym typeface="DM Sans"/>
                </a:rPr>
                <a:t>Solved point-in-time balance reconstruction by computing and storing balanceAfter on each individual ledger mutation.</a:t>
              </a:r>
              <a:endParaRPr b="1" sz="1050">
                <a:solidFill>
                  <a:srgbClr val="8C6319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431" name="Google Shape;431;g38b9b130855_2_702"/>
          <p:cNvGrpSpPr/>
          <p:nvPr/>
        </p:nvGrpSpPr>
        <p:grpSpPr>
          <a:xfrm>
            <a:off x="8210550" y="2095500"/>
            <a:ext cx="3486300" cy="2667000"/>
            <a:chOff x="0" y="0"/>
            <a:chExt cx="3486300" cy="2667000"/>
          </a:xfrm>
        </p:grpSpPr>
        <p:sp>
          <p:nvSpPr>
            <p:cNvPr id="432" name="Google Shape;432;g38b9b130855_2_702"/>
            <p:cNvSpPr/>
            <p:nvPr/>
          </p:nvSpPr>
          <p:spPr>
            <a:xfrm>
              <a:off x="0" y="0"/>
              <a:ext cx="3486300" cy="2667000"/>
            </a:xfrm>
            <a:prstGeom prst="roundRect">
              <a:avLst>
                <a:gd fmla="val 285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g38b9b130855_2_702"/>
            <p:cNvSpPr/>
            <p:nvPr/>
          </p:nvSpPr>
          <p:spPr>
            <a:xfrm>
              <a:off x="0" y="0"/>
              <a:ext cx="57300" cy="2667000"/>
            </a:xfrm>
            <a:prstGeom prst="roundRect">
              <a:avLst>
                <a:gd fmla="val 49999" name="adj"/>
              </a:avLst>
            </a:prstGeom>
            <a:solidFill>
              <a:srgbClr val="8C631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g38b9b130855_2_702"/>
            <p:cNvSpPr txBox="1"/>
            <p:nvPr/>
          </p:nvSpPr>
          <p:spPr>
            <a:xfrm>
              <a:off x="285750" y="333375"/>
              <a:ext cx="2914800" cy="2000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8C6319"/>
                  </a:solidFill>
                  <a:latin typeface="DM Sans"/>
                  <a:ea typeface="DM Sans"/>
                  <a:cs typeface="DM Sans"/>
                  <a:sym typeface="DM Sans"/>
                </a:rPr>
                <a:t>03 / SECURITY GUARDS</a:t>
              </a:r>
              <a:endParaRPr b="1" sz="1050">
                <a:solidFill>
                  <a:srgbClr val="8C631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B1220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State Guard Enforcement</a:t>
              </a:r>
              <a:endParaRPr b="1" sz="1050">
                <a:solidFill>
                  <a:srgbClr val="8C631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600"/>
                </a:spcAft>
                <a:buNone/>
              </a:pPr>
              <a:r>
                <a:rPr b="0" lang="en-US" sz="1150">
                  <a:solidFill>
                    <a:srgbClr val="475569"/>
                  </a:solidFill>
                  <a:latin typeface="DM Sans"/>
                  <a:ea typeface="DM Sans"/>
                  <a:cs typeface="DM Sans"/>
                  <a:sym typeface="DM Sans"/>
                </a:rPr>
                <a:t>Built strict pipeline middleware preventing unauthorized debit or credit operations on FROZEN or PENDING accounts.</a:t>
              </a:r>
              <a:endParaRPr b="1" sz="1050">
                <a:solidFill>
                  <a:srgbClr val="8C6319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